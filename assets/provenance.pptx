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92504" y="327812"/>
            <a:ext cx="279806" cy="223845"/>
          </a:xfrm>
          <a:prstGeom prst="roundRect">
            <a:avLst>
              <a:gd name="adj" fmla="val 25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6925" y="281177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>
                <a:solidFill>
                  <a:srgbClr val="000000"/>
                </a:solidFill>
              </a:rPr>
              <a:t>External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23652" y="327812"/>
            <a:ext cx="279806" cy="223845"/>
          </a:xfrm>
          <a:prstGeom prst="roundRect">
            <a:avLst>
              <a:gd name="adj" fmla="val 25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78074" y="281177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>
                <a:solidFill>
                  <a:srgbClr val="000000"/>
                </a:solidFill>
              </a:rPr>
              <a:t>DSAgt service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07682" y="327812"/>
            <a:ext cx="279806" cy="223845"/>
          </a:xfrm>
          <a:prstGeom prst="roundRect">
            <a:avLst>
              <a:gd name="adj" fmla="val 25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62103" y="281177"/>
            <a:ext cx="1463040" cy="27432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100">
                <a:solidFill>
                  <a:srgbClr val="000000"/>
                </a:solidFill>
              </a:rPr>
              <a:t>DSAgt 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8350" y="840790"/>
            <a:ext cx="1380378" cy="736823"/>
          </a:xfrm>
          <a:prstGeom prst="roundRect">
            <a:avLst>
              <a:gd name="adj" fmla="val 10000"/>
            </a:avLst>
          </a:prstGeom>
          <a:solidFill>
            <a:srgbClr val="E0E0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300" b="0">
                <a:solidFill>
                  <a:srgbClr val="000000"/>
                </a:solidFill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5487" y="2417033"/>
            <a:ext cx="3245754" cy="923361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50" b="1">
                <a:solidFill>
                  <a:srgbClr val="000000"/>
                </a:solidFill>
              </a:rPr>
              <a:t>Code Specs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ourier New"/>
              </a:rPr>
              <a:t>codes/&lt;name&gt;/SKILL.md</a:t>
            </a:r>
          </a:p>
          <a:p>
            <a:pPr algn="ctr"/>
            <a:r>
              <a:rPr sz="1050" b="0">
                <a:solidFill>
                  <a:srgbClr val="000000"/>
                </a:solidFill>
              </a:rPr>
              <a:t>executable · parameters · deps · tags</a:t>
            </a:r>
          </a:p>
          <a:p>
            <a:pPr algn="ctr"/>
            <a:r>
              <a:rPr sz="1050" b="0">
                <a:solidFill>
                  <a:srgbClr val="000000"/>
                </a:solidFill>
              </a:rPr>
              <a:t>each spec's command invokes </a:t>
            </a:r>
            <a:r>
              <a:rPr sz="1050" b="0">
                <a:solidFill>
                  <a:srgbClr val="000000"/>
                </a:solidFill>
                <a:latin typeface="Courier New"/>
              </a:rPr>
              <a:t>dsagt-run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4989" y="2510302"/>
            <a:ext cx="3227100" cy="736823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50" b="0">
                <a:solidFill>
                  <a:srgbClr val="000000"/>
                </a:solidFill>
                <a:latin typeface="Courier New"/>
              </a:rPr>
              <a:t>dsagt-run</a:t>
            </a:r>
            <a:r>
              <a:rPr sz="1250" b="0">
                <a:solidFill>
                  <a:srgbClr val="000000"/>
                </a:solidFill>
              </a:rPr>
              <a:t> wrapper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ourier New"/>
              </a:rPr>
              <a:t>uv run --with</a:t>
            </a:r>
            <a:r>
              <a:rPr sz="1050" b="0">
                <a:solidFill>
                  <a:srgbClr val="000000"/>
                </a:solidFill>
              </a:rPr>
              <a:t> dependency isolation</a:t>
            </a:r>
          </a:p>
          <a:p>
            <a:pPr algn="ctr"/>
            <a:r>
              <a:rPr sz="1050" b="0">
                <a:solidFill>
                  <a:srgbClr val="000000"/>
                </a:solidFill>
              </a:rPr>
              <a:t>captures command · exit · timing · files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31703" y="2510302"/>
            <a:ext cx="3105851" cy="736823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50" b="0">
                <a:solidFill>
                  <a:srgbClr val="000000"/>
                </a:solidFill>
                <a:latin typeface="Courier New"/>
              </a:rPr>
              <a:t>reconstruct_pipeline</a:t>
            </a:r>
          </a:p>
          <a:p>
            <a:pPr algn="ctr"/>
            <a:r>
              <a:rPr sz="1050" b="0">
                <a:solidFill>
                  <a:srgbClr val="000000"/>
                </a:solidFill>
              </a:rPr>
              <a:t>orders steps by the dependency graph</a:t>
            </a:r>
          </a:p>
          <a:p>
            <a:pPr algn="ctr"/>
            <a:r>
              <a:rPr sz="1050" b="0">
                <a:solidFill>
                  <a:srgbClr val="000000"/>
                </a:solidFill>
              </a:rPr>
              <a:t>inferred from input/output files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81637" y="4440966"/>
            <a:ext cx="1762780" cy="736823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50" b="1">
                <a:solidFill>
                  <a:srgbClr val="000000"/>
                </a:solidFill>
              </a:rPr>
              <a:t>MLflow store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ourier New"/>
              </a:rPr>
              <a:t>mlflow.db</a:t>
            </a:r>
            <a:r>
              <a:rPr sz="1050" b="0">
                <a:solidFill>
                  <a:srgbClr val="000000"/>
                </a:solidFill>
              </a:rPr>
              <a:t> traces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55856" y="4440966"/>
            <a:ext cx="3031236" cy="736823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50" b="0">
                <a:solidFill>
                  <a:srgbClr val="000000"/>
                </a:solidFill>
                <a:latin typeface="Courier New"/>
              </a:rPr>
              <a:t>trace_archive/&lt;id&gt;.json</a:t>
            </a:r>
          </a:p>
          <a:p>
            <a:pPr algn="ctr"/>
            <a:r>
              <a:rPr sz="1050" b="0">
                <a:solidFill>
                  <a:srgbClr val="000000"/>
                </a:solidFill>
              </a:rPr>
              <a:t>command · exit · duration · I/O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00642" y="4440966"/>
            <a:ext cx="1967971" cy="736823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50" b="1">
                <a:solidFill>
                  <a:srgbClr val="000000"/>
                </a:solidFill>
              </a:rPr>
              <a:t>Pipeline script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ourier New"/>
              </a:rPr>
              <a:t>pipeline.sh</a:t>
            </a:r>
            <a:r>
              <a:rPr sz="1050" b="0">
                <a:solidFill>
                  <a:srgbClr val="000000"/>
                </a:solidFill>
              </a:rPr>
              <a:t> · </a:t>
            </a:r>
            <a:r>
              <a:rPr sz="1050" b="0">
                <a:solidFill>
                  <a:srgbClr val="000000"/>
                </a:solidFill>
                <a:latin typeface="Courier New"/>
              </a:rPr>
              <a:t>Snakefile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355" y="5793364"/>
            <a:ext cx="2546238" cy="727496"/>
          </a:xfrm>
          <a:prstGeom prst="roundRect">
            <a:avLst>
              <a:gd name="adj" fmla="val 10000"/>
            </a:avLst>
          </a:prstGeom>
          <a:solidFill>
            <a:srgbClr val="E0FFE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50" b="0">
                <a:solidFill>
                  <a:srgbClr val="000000"/>
                </a:solidFill>
                <a:latin typeface="Courier New"/>
              </a:rPr>
              <a:t>CodeUseIndexer</a:t>
            </a:r>
          </a:p>
          <a:p>
            <a:pPr algn="ctr"/>
            <a:r>
              <a:rPr sz="1050" b="0">
                <a:solidFill>
                  <a:srgbClr val="000000"/>
                </a:solidFill>
              </a:rPr>
              <a:t>heartbeat · idempotent ack 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18724" y="5793364"/>
            <a:ext cx="2331720" cy="727496"/>
          </a:xfrm>
          <a:prstGeom prst="roundRect">
            <a:avLst>
              <a:gd name="adj" fmla="val 10000"/>
            </a:avLst>
          </a:prstGeom>
          <a:solidFill>
            <a:srgbClr val="FFEDDB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8288" bIns="18288"/>
          <a:lstStyle/>
          <a:p>
            <a:pPr algn="ctr"/>
            <a:r>
              <a:rPr sz="1250" b="1">
                <a:solidFill>
                  <a:srgbClr val="000000"/>
                </a:solidFill>
              </a:rPr>
              <a:t>ChromaDB</a:t>
            </a:r>
            <a:r>
              <a:rPr sz="1250" b="0">
                <a:solidFill>
                  <a:srgbClr val="000000"/>
                </a:solidFill>
              </a:rPr>
              <a:t>: </a:t>
            </a:r>
            <a:r>
              <a:rPr sz="1250" b="0">
                <a:solidFill>
                  <a:srgbClr val="000000"/>
                </a:solidFill>
                <a:latin typeface="Courier New"/>
              </a:rPr>
              <a:t>code_use</a:t>
            </a:r>
          </a:p>
          <a:p>
            <a:pPr algn="ctr"/>
            <a:r>
              <a:rPr sz="1050" b="0">
                <a:solidFill>
                  <a:srgbClr val="000000"/>
                </a:solidFill>
              </a:rPr>
              <a:t>searchable execution history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58540" y="1577614"/>
            <a:ext cx="0" cy="932688"/>
          </a:xfrm>
          <a:prstGeom prst="line">
            <a:avLst/>
          </a:prstGeom>
          <a:ln w="19050">
            <a:solidFill>
              <a:srgbClr val="000099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133155" y="1906615"/>
            <a:ext cx="3291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i="1">
                <a:solidFill>
                  <a:srgbClr val="464646"/>
                </a:solidFill>
              </a:rPr>
              <a:t>shell: the spec's command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458364" y="1857420"/>
            <a:ext cx="3600176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458364" y="1857420"/>
            <a:ext cx="0" cy="559613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12532" y="1561520"/>
            <a:ext cx="3291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i="1">
                <a:solidFill>
                  <a:srgbClr val="464646"/>
                </a:solidFill>
                <a:latin typeface="Courier New"/>
              </a:rPr>
              <a:t>save_code_spec · search_registry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58540" y="1857420"/>
            <a:ext cx="3721425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79965" y="1857420"/>
            <a:ext cx="0" cy="652882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175400" y="1561520"/>
            <a:ext cx="3291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i="1">
                <a:solidFill>
                  <a:srgbClr val="464646"/>
                </a:solidFill>
              </a:rPr>
              <a:t>MCP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81241" y="2874050"/>
            <a:ext cx="363748" cy="0"/>
          </a:xfrm>
          <a:prstGeom prst="line">
            <a:avLst/>
          </a:prstGeom>
          <a:ln w="19050">
            <a:solidFill>
              <a:srgbClr val="000099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27963" y="3247125"/>
            <a:ext cx="0" cy="1193841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21232" y="3706703"/>
            <a:ext cx="3291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i="1">
                <a:solidFill>
                  <a:srgbClr val="464646"/>
                </a:solidFill>
              </a:rPr>
              <a:t>record per run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32583" y="3247125"/>
            <a:ext cx="0" cy="447691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2458364" y="3694816"/>
            <a:ext cx="2574219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458364" y="3694816"/>
            <a:ext cx="0" cy="746150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57054" y="3436223"/>
            <a:ext cx="3291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i="1">
                <a:solidFill>
                  <a:srgbClr val="464646"/>
                </a:solidFill>
                <a:latin typeface="Courier New"/>
              </a:rPr>
              <a:t>code.execute</a:t>
            </a:r>
            <a:r>
              <a:rPr sz="1050" i="1">
                <a:solidFill>
                  <a:srgbClr val="464646"/>
                </a:solidFill>
              </a:rPr>
              <a:t> span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87092" y="4804714"/>
            <a:ext cx="1436340" cy="0"/>
          </a:xfrm>
          <a:prstGeom prst="line">
            <a:avLst/>
          </a:prstGeom>
          <a:ln w="19050">
            <a:solidFill>
              <a:srgbClr val="0000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623432" y="3247125"/>
            <a:ext cx="0" cy="1557589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56977" y="3811310"/>
            <a:ext cx="3291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50" i="1">
                <a:solidFill>
                  <a:srgbClr val="464646"/>
                </a:solidFill>
              </a:rPr>
              <a:t>reads all records</a:t>
            </a:r>
          </a:p>
          <a:p>
            <a:pPr algn="r"/>
            <a:r>
              <a:rPr sz="1050" i="1">
                <a:solidFill>
                  <a:srgbClr val="464646"/>
                </a:solidFill>
              </a:rPr>
              <a:t>(flushes index first)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79965" y="3247125"/>
            <a:ext cx="0" cy="1193841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873234" y="3706703"/>
            <a:ext cx="3291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i="1">
                <a:solidFill>
                  <a:srgbClr val="464646"/>
                </a:solidFill>
                <a:latin typeface="Courier New"/>
              </a:rPr>
              <a:t>bash</a:t>
            </a:r>
            <a:r>
              <a:rPr sz="1050" i="1">
                <a:solidFill>
                  <a:srgbClr val="464646"/>
                </a:solidFill>
              </a:rPr>
              <a:t> · </a:t>
            </a:r>
            <a:r>
              <a:rPr sz="1050" i="1">
                <a:solidFill>
                  <a:srgbClr val="464646"/>
                </a:solidFill>
                <a:latin typeface="Courier New"/>
              </a:rPr>
              <a:t>snakemake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6811" y="5177790"/>
            <a:ext cx="0" cy="615574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769406" y="5357561"/>
            <a:ext cx="3291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i="1">
                <a:solidFill>
                  <a:srgbClr val="464646"/>
                </a:solidFill>
              </a:rPr>
              <a:t>new records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944593" y="6157112"/>
            <a:ext cx="774131" cy="0"/>
          </a:xfrm>
          <a:prstGeom prst="line">
            <a:avLst/>
          </a:prstGeom>
          <a:ln w="19050">
            <a:solidFill>
              <a:srgbClr val="00009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681075" y="5879866"/>
            <a:ext cx="32918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50" i="1">
                <a:solidFill>
                  <a:srgbClr val="464646"/>
                </a:solidFill>
              </a:rPr>
              <a:t>embed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947" y="5331592"/>
            <a:ext cx="329184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 i="1">
                <a:solidFill>
                  <a:srgbClr val="464646"/>
                </a:solidFill>
              </a:rPr>
              <a:t>unwrapped shell calls leave no structured record;</a:t>
            </a:r>
          </a:p>
          <a:p>
            <a:pPr algn="l"/>
            <a:r>
              <a:rPr sz="1050" i="1">
                <a:solidFill>
                  <a:srgbClr val="464646"/>
                </a:solidFill>
                <a:latin typeface="Courier New"/>
              </a:rPr>
              <a:t>reconstruct_pipeline</a:t>
            </a:r>
            <a:r>
              <a:rPr sz="1050" i="1">
                <a:solidFill>
                  <a:srgbClr val="464646"/>
                </a:solidFill>
              </a:rPr>
              <a:t> needs the wrapper's records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