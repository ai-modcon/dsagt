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438" y="553212"/>
            <a:ext cx="3721608" cy="5176418"/>
          </a:xfrm>
          <a:prstGeom prst="roundRect">
            <a:avLst>
              <a:gd name="adj" fmla="val 4000"/>
            </a:avLst>
          </a:prstGeom>
          <a:solidFill>
            <a:srgbClr val="EBFFEB"/>
          </a:solidFill>
          <a:ln w="19050">
            <a:solidFill>
              <a:srgbClr val="99C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35043" y="553212"/>
            <a:ext cx="3721608" cy="5176418"/>
          </a:xfrm>
          <a:prstGeom prst="roundRect">
            <a:avLst>
              <a:gd name="adj" fmla="val 4000"/>
            </a:avLst>
          </a:prstGeom>
          <a:solidFill>
            <a:srgbClr val="EBEBFF"/>
          </a:solidFill>
          <a:ln w="19050">
            <a:solidFill>
              <a:srgbClr val="999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59648" y="553212"/>
            <a:ext cx="3721608" cy="5176418"/>
          </a:xfrm>
          <a:prstGeom prst="roundRect">
            <a:avLst>
              <a:gd name="adj" fmla="val 4000"/>
            </a:avLst>
          </a:prstGeom>
          <a:solidFill>
            <a:srgbClr val="FFF0E0"/>
          </a:solidFill>
          <a:ln w="19050">
            <a:solidFill>
              <a:srgbClr val="D6B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71957" y="671169"/>
            <a:ext cx="5486400" cy="373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50" b="1" i="0">
                <a:solidFill>
                  <a:srgbClr val="000000"/>
                </a:solidFill>
              </a:rPr>
              <a:t>Quick demos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571957" y="997610"/>
            <a:ext cx="54864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50" b="0" i="1">
                <a:solidFill>
                  <a:srgbClr val="464646"/>
                </a:solidFill>
              </a:rPr>
              <a:t>bundled or small data · ~10–15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2647" y="671169"/>
            <a:ext cx="5486400" cy="373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50" b="1" i="0">
                <a:solidFill>
                  <a:srgbClr val="000000"/>
                </a:solidFill>
              </a:rPr>
              <a:t>Public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997610"/>
            <a:ext cx="54864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50" b="0" i="1">
                <a:solidFill>
                  <a:srgbClr val="464646"/>
                </a:solidFill>
              </a:rPr>
              <a:t>archive downloads · real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7252" y="671169"/>
            <a:ext cx="5486400" cy="373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50" b="1" i="0">
                <a:solidFill>
                  <a:srgbClr val="000000"/>
                </a:solidFill>
              </a:rPr>
              <a:t>Advanced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77252" y="997610"/>
            <a:ext cx="54864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50" b="0" i="1">
                <a:solidFill>
                  <a:srgbClr val="464646"/>
                </a:solidFill>
              </a:rPr>
              <a:t>HPC-scale · user-supplied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" y="1534363"/>
            <a:ext cx="3484778" cy="13533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450" b="1" i="0">
                <a:solidFill>
                  <a:srgbClr val="000000"/>
                </a:solidFill>
              </a:rPr>
              <a:t>Genesis Skills</a:t>
            </a:r>
          </a:p>
          <a:p>
            <a:pPr algn="ctr"/>
            <a:r>
              <a:rPr sz="1250" b="0" i="1">
                <a:solidFill>
                  <a:srgbClr val="464646"/>
                </a:solidFill>
              </a:rPr>
              <a:t>catalysis · bundled mock data</a:t>
            </a:r>
          </a:p>
          <a:p>
            <a:pPr algn="ctr"/>
            <a:r>
              <a:rPr sz="1250" b="0" i="0">
                <a:solidFill>
                  <a:srgbClr val="000000"/>
                </a:solidFill>
              </a:rPr>
              <a:t>skill catalog from OSTI Genesis;</a:t>
            </a:r>
          </a:p>
          <a:p>
            <a:pPr algn="ctr"/>
            <a:r>
              <a:rPr sz="1250" b="0" i="0">
                <a:solidFill>
                  <a:srgbClr val="000000"/>
                </a:solidFill>
              </a:rPr>
              <a:t>curated catalyst dataset + datacard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" y="2955340"/>
            <a:ext cx="3484778" cy="135331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450" b="1" i="0">
                <a:solidFill>
                  <a:srgbClr val="000000"/>
                </a:solidFill>
              </a:rPr>
              <a:t>Skill-Driven VASP → ISAAC</a:t>
            </a:r>
          </a:p>
          <a:p>
            <a:pPr algn="ctr"/>
            <a:r>
              <a:rPr sz="1250" b="0" i="1">
                <a:solidFill>
                  <a:srgbClr val="464646"/>
                </a:solidFill>
              </a:rPr>
              <a:t>materials science · bundled mock data</a:t>
            </a:r>
          </a:p>
          <a:p>
            <a:pPr algn="ctr"/>
            <a:r>
              <a:rPr sz="1250" b="0" i="0">
                <a:solidFill>
                  <a:srgbClr val="000000"/>
                </a:solidFill>
              </a:rPr>
              <a:t>agent discovers, installs, and</a:t>
            </a:r>
          </a:p>
          <a:p>
            <a:pPr algn="ctr"/>
            <a:r>
              <a:rPr sz="1250" b="0" i="0">
                <a:solidFill>
                  <a:srgbClr val="000000"/>
                </a:solidFill>
              </a:rPr>
              <a:t>authors skills (K-Dense catalog)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" y="4376318"/>
            <a:ext cx="3484778" cy="13533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450" b="1" i="0">
                <a:solidFill>
                  <a:srgbClr val="000000"/>
                </a:solidFill>
              </a:rPr>
              <a:t>AIDRIN Full Feature Tour</a:t>
            </a:r>
          </a:p>
          <a:p>
            <a:pPr algn="ctr"/>
            <a:r>
              <a:rPr sz="1250" b="0" i="1">
                <a:solidFill>
                  <a:srgbClr val="464646"/>
                </a:solidFill>
              </a:rPr>
              <a:t>AI data readiness · UCI Adult</a:t>
            </a:r>
          </a:p>
          <a:p>
            <a:pPr algn="ctr"/>
            <a:r>
              <a:rPr sz="1250" b="0" i="0">
                <a:solidFill>
                  <a:srgbClr val="000000"/>
                </a:solidFill>
              </a:rPr>
              <a:t>all 15 readiness metrics,</a:t>
            </a:r>
          </a:p>
          <a:p>
            <a:pPr algn="ctr"/>
            <a:r>
              <a:rPr sz="1250" b="0" i="0">
                <a:solidFill>
                  <a:srgbClr val="000000"/>
                </a:solidFill>
              </a:rPr>
              <a:t>each run with provenance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3458" y="1534363"/>
            <a:ext cx="3484778" cy="13533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450" b="1" i="0">
                <a:solidFill>
                  <a:srgbClr val="000000"/>
                </a:solidFill>
              </a:rPr>
              <a:t>Microbial Isolates</a:t>
            </a:r>
          </a:p>
          <a:p>
            <a:pPr algn="ctr"/>
            <a:r>
              <a:rPr sz="1250" b="0" i="1">
                <a:solidFill>
                  <a:srgbClr val="464646"/>
                </a:solidFill>
              </a:rPr>
              <a:t>genomics · real sequencing reads</a:t>
            </a:r>
          </a:p>
          <a:p>
            <a:pPr algn="ctr"/>
            <a:r>
              <a:rPr sz="1250" b="0" i="0">
                <a:solidFill>
                  <a:srgbClr val="000000"/>
                </a:solidFill>
              </a:rPr>
              <a:t>fastp + megahit codes · genomics</a:t>
            </a:r>
          </a:p>
          <a:p>
            <a:pPr algn="ctr"/>
            <a:r>
              <a:rPr sz="1250" b="0" i="0">
                <a:solidFill>
                  <a:srgbClr val="000000"/>
                </a:solidFill>
              </a:rPr>
              <a:t>KB · reconstructed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3458" y="2955340"/>
            <a:ext cx="3484778" cy="135331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450" b="1" i="0">
                <a:solidFill>
                  <a:srgbClr val="000000"/>
                </a:solidFill>
              </a:rPr>
              <a:t>Cryo-EM</a:t>
            </a:r>
          </a:p>
          <a:p>
            <a:pPr algn="ctr"/>
            <a:r>
              <a:rPr sz="1250" b="0" i="1">
                <a:solidFill>
                  <a:srgbClr val="464646"/>
                </a:solidFill>
              </a:rPr>
              <a:t>structural biology · EMPIAR-10017</a:t>
            </a:r>
          </a:p>
          <a:p>
            <a:pPr algn="ctr"/>
            <a:r>
              <a:rPr sz="1250" b="0" i="0">
                <a:solidFill>
                  <a:srgbClr val="000000"/>
                </a:solidFill>
              </a:rPr>
              <a:t>micrograph curation codes ·</a:t>
            </a:r>
          </a:p>
          <a:p>
            <a:pPr algn="ctr"/>
            <a:r>
              <a:rPr sz="1250" b="0" i="0">
                <a:solidFill>
                  <a:srgbClr val="000000"/>
                </a:solidFill>
              </a:rPr>
              <a:t>cryo-EM quality knowledge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3458" y="4376318"/>
            <a:ext cx="3484778" cy="13533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450" b="1" i="0">
                <a:solidFill>
                  <a:srgbClr val="000000"/>
                </a:solidFill>
              </a:rPr>
              <a:t>AIDRIN Readiness Gate</a:t>
            </a:r>
          </a:p>
          <a:p>
            <a:pPr algn="ctr"/>
            <a:r>
              <a:rPr sz="1250" b="0" i="1">
                <a:solidFill>
                  <a:srgbClr val="464646"/>
                </a:solidFill>
              </a:rPr>
              <a:t>AI data readiness · cryo-EM data</a:t>
            </a:r>
          </a:p>
          <a:p>
            <a:pPr algn="ctr"/>
            <a:r>
              <a:rPr sz="1250" b="0" i="0">
                <a:solidFill>
                  <a:srgbClr val="000000"/>
                </a:solidFill>
              </a:rPr>
              <a:t>quality metrics before/after</a:t>
            </a:r>
          </a:p>
          <a:p>
            <a:pPr algn="ctr"/>
            <a:r>
              <a:rPr sz="1250" b="0" i="0">
                <a:solidFill>
                  <a:srgbClr val="000000"/>
                </a:solidFill>
              </a:rPr>
              <a:t>curation, measured with provenance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8063" y="1534363"/>
            <a:ext cx="3484778" cy="13533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450" b="1" i="0">
                <a:solidFill>
                  <a:srgbClr val="000000"/>
                </a:solidFill>
              </a:rPr>
              <a:t>Fusion Foundation Model</a:t>
            </a:r>
          </a:p>
          <a:p>
            <a:pPr algn="ctr"/>
            <a:r>
              <a:rPr sz="1250" b="0" i="1">
                <a:solidFill>
                  <a:srgbClr val="464646"/>
                </a:solidFill>
              </a:rPr>
              <a:t>plasma physics · XGC output</a:t>
            </a:r>
          </a:p>
          <a:p>
            <a:pPr algn="ctr"/>
            <a:r>
              <a:rPr sz="1250" b="0" i="0">
                <a:solidFill>
                  <a:srgbClr val="000000"/>
                </a:solidFill>
              </a:rPr>
              <a:t>ADIOS2 BP5 turbulence data →</a:t>
            </a:r>
          </a:p>
          <a:p>
            <a:pPr algn="ctr"/>
            <a:r>
              <a:rPr sz="1250" b="0" i="0">
                <a:solidFill>
                  <a:srgbClr val="000000"/>
                </a:solidFill>
              </a:rPr>
              <a:t>foundation-model training tensors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8063" y="2955340"/>
            <a:ext cx="3484778" cy="135331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/>
            <a:r>
              <a:rPr sz="1450" b="1" i="0">
                <a:solidFill>
                  <a:srgbClr val="000000"/>
                </a:solidFill>
              </a:rPr>
              <a:t>Tokamak Stability</a:t>
            </a:r>
          </a:p>
          <a:p>
            <a:pPr algn="ctr"/>
            <a:r>
              <a:rPr sz="1250" b="0" i="1">
                <a:solidFill>
                  <a:srgbClr val="464646"/>
                </a:solidFill>
              </a:rPr>
              <a:t>fusion · M3D-C1 dataset</a:t>
            </a:r>
          </a:p>
          <a:p>
            <a:pPr algn="ctr"/>
            <a:r>
              <a:rPr sz="1250" b="0" i="0">
                <a:solidFill>
                  <a:srgbClr val="000000"/>
                </a:solidFill>
              </a:rPr>
              <a:t>linear MHD stability analysis</a:t>
            </a:r>
          </a:p>
          <a:p>
            <a:pPr algn="ctr"/>
            <a:r>
              <a:rPr sz="1250" b="0" i="0">
                <a:solidFill>
                  <a:srgbClr val="000000"/>
                </a:solidFill>
              </a:rPr>
              <a:t>with fusion-io codes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247" y="5937199"/>
            <a:ext cx="118872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50" b="0" i="1">
                <a:solidFill>
                  <a:srgbClr val="464646"/>
                </a:solidFill>
              </a:rPr>
              <a:t>every use case runs the same loop: register codes → ground in the knowledge base → execute with provenance → reconstruct the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