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83880" y="282892"/>
            <a:ext cx="265747" cy="205739"/>
          </a:xfrm>
          <a:prstGeom prst="roundRect">
            <a:avLst>
              <a:gd name="adj" fmla="val 25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01062" y="25774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External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4022" y="282892"/>
            <a:ext cx="265747" cy="205739"/>
          </a:xfrm>
          <a:prstGeom prst="roundRect">
            <a:avLst>
              <a:gd name="adj" fmla="val 25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1205" y="25774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DSAgt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5667" y="282892"/>
            <a:ext cx="265747" cy="205739"/>
          </a:xfrm>
          <a:prstGeom prst="roundRect">
            <a:avLst>
              <a:gd name="adj" fmla="val 25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72850" y="25774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</a:rPr>
              <a:t>DSAgt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4082" y="754380"/>
            <a:ext cx="1268730" cy="677227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0" i="0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4600" y="754380"/>
            <a:ext cx="1971675" cy="677227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Agent Transcript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on-disk session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2587" y="2168842"/>
            <a:ext cx="2331720" cy="677227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0" i="0">
                <a:solidFill>
                  <a:srgbClr val="000000"/>
                </a:solidFill>
                <a:latin typeface="Courier New"/>
              </a:rPr>
              <a:t>ExplicitMemory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user-confirmed facts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remember · supersede ·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8755" y="2168842"/>
            <a:ext cx="4054792" cy="677227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0" i="0">
                <a:solidFill>
                  <a:srgbClr val="000000"/>
                </a:solidFill>
                <a:latin typeface="Courier New"/>
              </a:rPr>
              <a:t>TraceCollector</a:t>
            </a:r>
            <a:r>
              <a:rPr sz="1200" b="0" i="0">
                <a:solidFill>
                  <a:srgbClr val="000000"/>
                </a:solidFill>
              </a:rPr>
              <a:t> → </a:t>
            </a:r>
            <a:r>
              <a:rPr sz="1200" b="0" i="0">
                <a:solidFill>
                  <a:srgbClr val="000000"/>
                </a:solidFill>
                <a:latin typeface="Courier New"/>
              </a:rPr>
              <a:t>MemoryExtractor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chunks · tags · embeds each completed turn (no LLM)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opt-in: </a:t>
            </a:r>
            <a:r>
              <a:rPr sz="950" b="0" i="0">
                <a:solidFill>
                  <a:srgbClr val="000000"/>
                </a:solidFill>
                <a:latin typeface="Courier New"/>
              </a:rPr>
              <a:t>dsagt init --episodic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69605" y="3823335"/>
            <a:ext cx="2683192" cy="677227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0" i="0">
                <a:solidFill>
                  <a:srgbClr val="000000"/>
                </a:solidFill>
                <a:latin typeface="Courier New"/>
              </a:rPr>
              <a:t>explicit_memories.yaml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+ </a:t>
            </a:r>
            <a:r>
              <a:rPr sz="950" b="0" i="0">
                <a:solidFill>
                  <a:srgbClr val="000000"/>
                </a:solidFill>
                <a:latin typeface="Courier New"/>
              </a:rPr>
              <a:t>explicit_memories_history.yaml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durable facts · supersede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0122" y="3823335"/>
            <a:ext cx="3626167" cy="677227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ChromaDB</a:t>
            </a:r>
            <a:r>
              <a:rPr sz="1200" b="0" i="0">
                <a:solidFill>
                  <a:srgbClr val="000000"/>
                </a:solidFill>
              </a:rPr>
              <a:t>: </a:t>
            </a:r>
            <a:r>
              <a:rPr sz="1200" b="0" i="0">
                <a:solidFill>
                  <a:srgbClr val="000000"/>
                </a:solidFill>
                <a:latin typeface="Courier New"/>
              </a:rPr>
              <a:t>session_memory</a:t>
            </a:r>
            <a:r>
              <a:rPr sz="1200" b="0" i="0">
                <a:solidFill>
                  <a:srgbClr val="000000"/>
                </a:solidFill>
              </a:rPr>
              <a:t> collection</a:t>
            </a:r>
          </a:p>
          <a:p>
            <a:pPr algn="ctr"/>
            <a:r>
              <a:rPr sz="950" b="0" i="0">
                <a:solidFill>
                  <a:srgbClr val="000000"/>
                </a:solidFill>
              </a:rPr>
              <a:t>shared store · shared embedder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72812" y="1092993"/>
            <a:ext cx="2871788" cy="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41380" y="823531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464646"/>
                </a:solidFill>
              </a:rPr>
              <a:t>writes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38447" y="1431607"/>
            <a:ext cx="0" cy="737235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24172" y="162306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464646"/>
                </a:solidFill>
              </a:rPr>
              <a:t>MCP</a:t>
            </a:r>
          </a:p>
          <a:p>
            <a:pPr algn="ctr"/>
            <a:r>
              <a:rPr sz="950" b="0" i="1">
                <a:solidFill>
                  <a:srgbClr val="464646"/>
                </a:solidFill>
                <a:latin typeface="Courier New"/>
              </a:rPr>
              <a:t>kb_remember · kb_get_memories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30437" y="1431607"/>
            <a:ext cx="0" cy="737235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16162" y="1663636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64646"/>
                </a:solidFill>
              </a:rPr>
              <a:t>heartbeat read (every 2 min)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38447" y="1431607"/>
            <a:ext cx="0" cy="274320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38447" y="1705927"/>
            <a:ext cx="2400300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38747" y="1705927"/>
            <a:ext cx="0" cy="2117408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09860" y="3018091"/>
            <a:ext cx="2468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0" i="1">
                <a:solidFill>
                  <a:srgbClr val="464646"/>
                </a:solidFill>
                <a:latin typeface="Courier New"/>
              </a:rPr>
              <a:t>kb_search</a:t>
            </a:r>
            <a:r>
              <a:rPr sz="950" b="0" i="1">
                <a:solidFill>
                  <a:srgbClr val="464646"/>
                </a:solidFill>
              </a:rPr>
              <a:t>: recency-weighted recall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11201" y="2846070"/>
            <a:ext cx="0" cy="977265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84067" y="3206686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64646"/>
                </a:solidFill>
              </a:rPr>
              <a:t>write · read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49965" y="2846070"/>
            <a:ext cx="0" cy="1320165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49965" y="4166235"/>
            <a:ext cx="1260157" cy="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18545" y="3663315"/>
            <a:ext cx="1280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64646"/>
                </a:solidFill>
              </a:rPr>
              <a:t>vector mirror</a:t>
            </a:r>
          </a:p>
          <a:p>
            <a:pPr algn="l"/>
            <a:r>
              <a:rPr sz="950" b="0" i="1">
                <a:solidFill>
                  <a:srgbClr val="464646"/>
                </a:solidFill>
              </a:rPr>
              <a:t>(optional)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30437" y="2846070"/>
            <a:ext cx="0" cy="977265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16162" y="3106102"/>
            <a:ext cx="1828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464646"/>
                </a:solidFill>
              </a:rPr>
              <a:t>one chunk per turn</a:t>
            </a:r>
          </a:p>
          <a:p>
            <a:pPr algn="ctr"/>
            <a:r>
              <a:rPr sz="950" b="0" i="1">
                <a:solidFill>
                  <a:srgbClr val="464646"/>
                </a:solidFill>
              </a:rPr>
              <a:t>producer · tool · turn_id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880" y="4554855"/>
            <a:ext cx="2926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464646"/>
                </a:solidFill>
              </a:rPr>
              <a:t>retrieval: filter to session → keyword regex →</a:t>
            </a:r>
          </a:p>
          <a:p>
            <a:pPr algn="ctr"/>
            <a:r>
              <a:rPr sz="950" b="0" i="1">
                <a:solidFill>
                  <a:srgbClr val="464646"/>
                </a:solidFill>
              </a:rPr>
              <a:t>semantic rank with bounded recency boost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0972" y="5400675"/>
            <a:ext cx="8743950" cy="1183005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9907" y="5461254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333333"/>
                </a:solidFill>
              </a:rPr>
              <a:t>compared with platform-native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0995" y="5723001"/>
            <a:ext cx="40233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</a:rPr>
              <a:t>platform-native</a:t>
            </a:r>
            <a:r>
              <a:rPr sz="1000" b="0" i="0">
                <a:solidFill>
                  <a:srgbClr val="262626"/>
                </a:solidFill>
              </a:rPr>
              <a:t> (</a:t>
            </a:r>
            <a:r>
              <a:rPr sz="1000" b="0" i="0">
                <a:solidFill>
                  <a:srgbClr val="262626"/>
                </a:solidFill>
                <a:latin typeface="Courier New"/>
              </a:rPr>
              <a:t>CLAUDE.md</a:t>
            </a:r>
            <a:r>
              <a:rPr sz="1000" b="0" i="0">
                <a:solidFill>
                  <a:srgbClr val="262626"/>
                </a:solidFill>
              </a:rPr>
              <a:t> · </a:t>
            </a:r>
            <a:r>
              <a:rPr sz="1000" b="0" i="0">
                <a:solidFill>
                  <a:srgbClr val="262626"/>
                </a:solidFill>
                <a:latin typeface="Courier New"/>
              </a:rPr>
              <a:t>MEMORY.md</a:t>
            </a:r>
            <a:r>
              <a:rPr sz="1000" b="0" i="0">
                <a:solidFill>
                  <a:srgbClr val="262626"/>
                </a:solidFill>
              </a:rPr>
              <a:t> · </a:t>
            </a:r>
            <a:r>
              <a:rPr sz="1000" b="0" i="0">
                <a:solidFill>
                  <a:srgbClr val="262626"/>
                </a:solidFill>
                <a:latin typeface="Courier New"/>
              </a:rPr>
              <a:t>.goosehints</a:t>
            </a:r>
            <a:r>
              <a:rPr sz="1000" b="0" i="0">
                <a:solidFill>
                  <a:srgbClr val="262626"/>
                </a:solidFill>
              </a:rPr>
              <a:t>):</a:t>
            </a:r>
          </a:p>
          <a:p>
            <a:pPr algn="l"/>
            <a:r>
              <a:rPr sz="1000" b="0" i="0">
                <a:solidFill>
                  <a:srgbClr val="262626"/>
                </a:solidFill>
              </a:rPr>
              <a:t>the model curates what it chooses to save · prose files</a:t>
            </a:r>
          </a:p>
          <a:p>
            <a:pPr algn="l"/>
            <a:r>
              <a:rPr sz="1000" b="0" i="0">
                <a:solidFill>
                  <a:srgbClr val="262626"/>
                </a:solidFill>
              </a:rPr>
              <a:t>loaded whole into context · format tied to one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2970" y="5723001"/>
            <a:ext cx="420624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</a:rPr>
              <a:t>DSAgt</a:t>
            </a:r>
            <a:r>
              <a:rPr sz="1000" b="0" i="0">
                <a:solidFill>
                  <a:srgbClr val="262626"/>
                </a:solidFill>
              </a:rPr>
              <a:t>: mechanical capture of every turn · retrieval on</a:t>
            </a:r>
          </a:p>
          <a:p>
            <a:pPr algn="l"/>
            <a:r>
              <a:rPr sz="1000" b="0" i="0">
                <a:solidFill>
                  <a:srgbClr val="262626"/>
                </a:solidFill>
              </a:rPr>
              <a:t>demand, recency-weighted · one store across all five agents</a:t>
            </a:r>
          </a:p>
          <a:p>
            <a:pPr algn="l"/>
            <a:r>
              <a:rPr sz="1000" b="0" i="0">
                <a:solidFill>
                  <a:srgbClr val="262626"/>
                </a:solidFill>
              </a:rPr>
              <a:t>· user-confirmed facts durable with supersede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