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7200900" cy="2537460"/>
          </a:xfrm>
          <a:prstGeom prst="roundRect">
            <a:avLst>
              <a:gd name="adj" fmla="val 2000"/>
            </a:avLst>
          </a:prstGeom>
          <a:solidFill>
            <a:srgbClr val="E1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7200900" cy="480060"/>
          </a:xfrm>
          <a:prstGeom prst="roundRect">
            <a:avLst>
              <a:gd name="adj" fmla="val 5000"/>
            </a:avLst>
          </a:prstGeom>
          <a:solidFill>
            <a:srgbClr val="A8C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71650" y="266572"/>
            <a:ext cx="4572000" cy="404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SCIENTIFIC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45869" y="1154430"/>
            <a:ext cx="1165860" cy="7543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870">
            <a:solidFill>
              <a:srgbClr val="12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705356" y="1908810"/>
            <a:ext cx="246888" cy="240030"/>
          </a:xfrm>
          <a:custGeom>
            <a:avLst/>
            <a:gdLst/>
            <a:ahLst/>
            <a:cxnLst/>
            <a:rect l="l" t="t" r="r" b="b"/>
            <a:pathLst>
              <a:path w="246888" h="240030">
                <a:moveTo>
                  <a:pt x="0" y="240030"/>
                </a:moveTo>
                <a:lnTo>
                  <a:pt x="246888" y="240030"/>
                </a:lnTo>
                <a:lnTo>
                  <a:pt x="205739" y="0"/>
                </a:lnTo>
                <a:lnTo>
                  <a:pt x="41148" y="0"/>
                </a:lnTo>
                <a:close/>
              </a:path>
            </a:pathLst>
          </a:cu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554480" y="2217420"/>
            <a:ext cx="548640" cy="0"/>
          </a:xfrm>
          <a:prstGeom prst="line">
            <a:avLst/>
          </a:prstGeom>
          <a:ln w="33870">
            <a:solidFill>
              <a:srgbClr val="12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154430"/>
            <a:ext cx="1165859" cy="7543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870">
            <a:solidFill>
              <a:srgbClr val="12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934206" y="1908810"/>
            <a:ext cx="246888" cy="240030"/>
          </a:xfrm>
          <a:custGeom>
            <a:avLst/>
            <a:gdLst/>
            <a:ahLst/>
            <a:cxnLst/>
            <a:rect l="l" t="t" r="r" b="b"/>
            <a:pathLst>
              <a:path w="246888" h="240030">
                <a:moveTo>
                  <a:pt x="0" y="240030"/>
                </a:moveTo>
                <a:lnTo>
                  <a:pt x="246888" y="240030"/>
                </a:lnTo>
                <a:lnTo>
                  <a:pt x="205740" y="0"/>
                </a:lnTo>
                <a:lnTo>
                  <a:pt x="41148" y="0"/>
                </a:lnTo>
                <a:close/>
              </a:path>
            </a:pathLst>
          </a:cu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783329" y="2217420"/>
            <a:ext cx="548641" cy="0"/>
          </a:xfrm>
          <a:prstGeom prst="line">
            <a:avLst/>
          </a:prstGeom>
          <a:ln w="33870">
            <a:solidFill>
              <a:srgbClr val="12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03570" y="1154430"/>
            <a:ext cx="1165859" cy="7543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870">
            <a:solidFill>
              <a:srgbClr val="12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163056" y="1908810"/>
            <a:ext cx="246888" cy="240030"/>
          </a:xfrm>
          <a:custGeom>
            <a:avLst/>
            <a:gdLst/>
            <a:ahLst/>
            <a:cxnLst/>
            <a:rect l="l" t="t" r="r" b="b"/>
            <a:pathLst>
              <a:path w="246888" h="240030">
                <a:moveTo>
                  <a:pt x="0" y="240030"/>
                </a:moveTo>
                <a:lnTo>
                  <a:pt x="246888" y="240030"/>
                </a:lnTo>
                <a:lnTo>
                  <a:pt x="205740" y="0"/>
                </a:lnTo>
                <a:lnTo>
                  <a:pt x="41148" y="0"/>
                </a:lnTo>
                <a:close/>
              </a:path>
            </a:pathLst>
          </a:cu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012179" y="2217420"/>
            <a:ext cx="548641" cy="0"/>
          </a:xfrm>
          <a:prstGeom prst="line">
            <a:avLst/>
          </a:prstGeom>
          <a:ln w="33870">
            <a:solidFill>
              <a:srgbClr val="12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88769" y="1312164"/>
            <a:ext cx="240031" cy="116586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1312164"/>
            <a:ext cx="219455" cy="164592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773936" y="1476756"/>
            <a:ext cx="274319" cy="205740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588769" y="1428750"/>
            <a:ext cx="185167" cy="253746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773936" y="1312164"/>
            <a:ext cx="54864" cy="370332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48255" y="1476756"/>
            <a:ext cx="41149" cy="246888"/>
          </a:xfrm>
          <a:prstGeom prst="line">
            <a:avLst/>
          </a:prstGeom>
          <a:ln w="19354">
            <a:solidFill>
              <a:srgbClr val="A64C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551051" y="1391031"/>
            <a:ext cx="75438" cy="75438"/>
          </a:xfrm>
          <a:prstGeom prst="ellipse">
            <a:avLst/>
          </a:prstGeom>
          <a:solidFill>
            <a:srgbClr val="A64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91081" y="1274445"/>
            <a:ext cx="75438" cy="75438"/>
          </a:xfrm>
          <a:prstGeom prst="ellipse">
            <a:avLst/>
          </a:prstGeom>
          <a:solidFill>
            <a:srgbClr val="A64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0536" y="1439037"/>
            <a:ext cx="75438" cy="75438"/>
          </a:xfrm>
          <a:prstGeom prst="ellipse">
            <a:avLst/>
          </a:prstGeom>
          <a:solidFill>
            <a:srgbClr val="A64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36217" y="1644777"/>
            <a:ext cx="75438" cy="75438"/>
          </a:xfrm>
          <a:prstGeom prst="ellipse">
            <a:avLst/>
          </a:prstGeom>
          <a:solidFill>
            <a:srgbClr val="A64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51685" y="1685925"/>
            <a:ext cx="75438" cy="75438"/>
          </a:xfrm>
          <a:prstGeom prst="ellipse">
            <a:avLst/>
          </a:prstGeom>
          <a:solidFill>
            <a:srgbClr val="A64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646170" y="1350818"/>
            <a:ext cx="822959" cy="283672"/>
          </a:xfrm>
          <a:custGeom>
            <a:avLst/>
            <a:gdLst/>
            <a:ahLst/>
            <a:cxnLst/>
            <a:rect l="l" t="t" r="r" b="b"/>
            <a:pathLst>
              <a:path w="822959" h="283672">
                <a:moveTo>
                  <a:pt x="0" y="249382"/>
                </a:moveTo>
                <a:lnTo>
                  <a:pt x="37806" y="195854"/>
                </a:lnTo>
                <a:lnTo>
                  <a:pt x="74205" y="161915"/>
                </a:lnTo>
                <a:lnTo>
                  <a:pt x="109399" y="144653"/>
                </a:lnTo>
                <a:lnTo>
                  <a:pt x="143589" y="141154"/>
                </a:lnTo>
                <a:lnTo>
                  <a:pt x="176975" y="148504"/>
                </a:lnTo>
                <a:lnTo>
                  <a:pt x="209758" y="163790"/>
                </a:lnTo>
                <a:lnTo>
                  <a:pt x="242139" y="184100"/>
                </a:lnTo>
                <a:lnTo>
                  <a:pt x="274320" y="206519"/>
                </a:lnTo>
                <a:lnTo>
                  <a:pt x="306500" y="228134"/>
                </a:lnTo>
                <a:lnTo>
                  <a:pt x="338881" y="246033"/>
                </a:lnTo>
                <a:lnTo>
                  <a:pt x="371664" y="257301"/>
                </a:lnTo>
                <a:lnTo>
                  <a:pt x="405050" y="259026"/>
                </a:lnTo>
                <a:lnTo>
                  <a:pt x="439240" y="248293"/>
                </a:lnTo>
                <a:lnTo>
                  <a:pt x="474434" y="222191"/>
                </a:lnTo>
                <a:lnTo>
                  <a:pt x="510833" y="177804"/>
                </a:lnTo>
                <a:lnTo>
                  <a:pt x="548640" y="112222"/>
                </a:lnTo>
                <a:lnTo>
                  <a:pt x="566789" y="82126"/>
                </a:lnTo>
                <a:lnTo>
                  <a:pt x="582930" y="56299"/>
                </a:lnTo>
                <a:lnTo>
                  <a:pt x="597463" y="34994"/>
                </a:lnTo>
                <a:lnTo>
                  <a:pt x="610790" y="18460"/>
                </a:lnTo>
                <a:lnTo>
                  <a:pt x="623314" y="6949"/>
                </a:lnTo>
                <a:lnTo>
                  <a:pt x="635436" y="712"/>
                </a:lnTo>
                <a:lnTo>
                  <a:pt x="647558" y="0"/>
                </a:lnTo>
                <a:lnTo>
                  <a:pt x="660082" y="5065"/>
                </a:lnTo>
                <a:lnTo>
                  <a:pt x="673410" y="16158"/>
                </a:lnTo>
                <a:lnTo>
                  <a:pt x="687943" y="33529"/>
                </a:lnTo>
                <a:lnTo>
                  <a:pt x="704083" y="57429"/>
                </a:lnTo>
                <a:lnTo>
                  <a:pt x="722233" y="88111"/>
                </a:lnTo>
                <a:lnTo>
                  <a:pt x="742793" y="125825"/>
                </a:lnTo>
                <a:lnTo>
                  <a:pt x="766167" y="170823"/>
                </a:lnTo>
                <a:lnTo>
                  <a:pt x="792755" y="223354"/>
                </a:lnTo>
                <a:lnTo>
                  <a:pt x="822959" y="283672"/>
                </a:lnTo>
              </a:path>
            </a:pathLst>
          </a:custGeom>
          <a:noFill/>
          <a:ln w="29032">
            <a:solidFill>
              <a:srgbClr val="12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98464" y="1634490"/>
            <a:ext cx="164592" cy="205739"/>
          </a:xfrm>
          <a:prstGeom prst="rect">
            <a:avLst/>
          </a:prstGeom>
          <a:solidFill>
            <a:srgbClr val="FF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531620"/>
            <a:ext cx="164592" cy="308610"/>
          </a:xfrm>
          <a:prstGeom prst="rect">
            <a:avLst/>
          </a:prstGeom>
          <a:solidFill>
            <a:srgbClr val="3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7376" y="1394460"/>
            <a:ext cx="164592" cy="445770"/>
          </a:xfrm>
          <a:prstGeom prst="rect">
            <a:avLst/>
          </a:prstGeom>
          <a:solidFill>
            <a:srgbClr val="FF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5943600" y="1257300"/>
            <a:ext cx="651509" cy="514350"/>
          </a:xfrm>
          <a:prstGeom prst="line">
            <a:avLst/>
          </a:prstGeom>
          <a:ln w="29032">
            <a:solidFill>
              <a:srgbClr val="12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3040380"/>
            <a:ext cx="7200900" cy="2057400"/>
          </a:xfrm>
          <a:prstGeom prst="roundRect">
            <a:avLst>
              <a:gd name="adj" fmla="val 2000"/>
            </a:avLst>
          </a:prstGeom>
          <a:solidFill>
            <a:srgbClr val="3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71650" y="3078353"/>
            <a:ext cx="4572000" cy="404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CORE CAPABILITIES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15084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67228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19372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71516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23659" y="3623310"/>
            <a:ext cx="1028700" cy="1371600"/>
          </a:xfrm>
          <a:prstGeom prst="roundRect">
            <a:avLst>
              <a:gd name="adj" fmla="val 3700"/>
            </a:avLst>
          </a:prstGeom>
          <a:solidFill>
            <a:srgbClr val="FFFFFF"/>
          </a:solidFill>
          <a:ln w="10160">
            <a:solidFill>
              <a:srgbClr val="ABAB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2697" y="4055364"/>
            <a:ext cx="329184" cy="123444"/>
          </a:xfrm>
          <a:prstGeom prst="ellipse">
            <a:avLst/>
          </a:prstGeom>
          <a:solidFill>
            <a:srgbClr val="FFFFFF"/>
          </a:solidFill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2697" y="3952494"/>
            <a:ext cx="329184" cy="123444"/>
          </a:xfrm>
          <a:prstGeom prst="ellipse">
            <a:avLst/>
          </a:prstGeom>
          <a:solidFill>
            <a:srgbClr val="FFFFFF"/>
          </a:solidFill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2697" y="3849624"/>
            <a:ext cx="329184" cy="123444"/>
          </a:xfrm>
          <a:prstGeom prst="ellipse">
            <a:avLst/>
          </a:prstGeom>
          <a:solidFill>
            <a:srgbClr val="FFFFFF"/>
          </a:solidFill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-1108710" y="4434079"/>
            <a:ext cx="4572000" cy="4358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Data</a:t>
            </a:r>
          </a:p>
          <a:p>
            <a:pPr algn="ctr"/>
            <a:r>
              <a:rPr sz="1200" b="0">
                <a:solidFill>
                  <a:srgbClr val="2D2D2D"/>
                </a:solidFill>
              </a:rPr>
              <a:t>curation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2274" y="3829050"/>
            <a:ext cx="260604" cy="397764"/>
          </a:xfrm>
          <a:prstGeom prst="rect">
            <a:avLst/>
          </a:prstGeom>
          <a:noFill/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247138" y="3925062"/>
            <a:ext cx="150876" cy="0"/>
          </a:xfrm>
          <a:prstGeom prst="line">
            <a:avLst/>
          </a:prstGeom>
          <a:ln w="9677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47138" y="4007358"/>
            <a:ext cx="150876" cy="0"/>
          </a:xfrm>
          <a:prstGeom prst="line">
            <a:avLst/>
          </a:prstGeom>
          <a:ln w="9677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47138" y="4089654"/>
            <a:ext cx="150876" cy="0"/>
          </a:xfrm>
          <a:prstGeom prst="line">
            <a:avLst/>
          </a:prstGeom>
          <a:ln w="9677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315718" y="4117085"/>
            <a:ext cx="192024" cy="150877"/>
          </a:xfrm>
          <a:custGeom>
            <a:avLst/>
            <a:gdLst/>
            <a:ahLst/>
            <a:cxnLst/>
            <a:rect l="l" t="t" r="r" b="b"/>
            <a:pathLst>
              <a:path w="192024" h="150877">
                <a:moveTo>
                  <a:pt x="0" y="54865"/>
                </a:moveTo>
                <a:lnTo>
                  <a:pt x="54864" y="0"/>
                </a:lnTo>
                <a:lnTo>
                  <a:pt x="192024" y="150877"/>
                </a:lnTo>
              </a:path>
            </a:pathLst>
          </a:custGeom>
          <a:noFill/>
          <a:ln w="29032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" y="4529329"/>
            <a:ext cx="4572000" cy="245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Evaluation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89554" y="3870198"/>
            <a:ext cx="384048" cy="315468"/>
          </a:xfrm>
          <a:prstGeom prst="rect">
            <a:avLst/>
          </a:prstGeom>
          <a:noFill/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39871" y="3928491"/>
            <a:ext cx="61722" cy="61722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316986" y="4000500"/>
            <a:ext cx="329184" cy="137160"/>
          </a:xfrm>
          <a:custGeom>
            <a:avLst/>
            <a:gdLst/>
            <a:ahLst/>
            <a:cxnLst/>
            <a:rect l="l" t="t" r="r" b="b"/>
            <a:pathLst>
              <a:path w="329184" h="137160">
                <a:moveTo>
                  <a:pt x="0" y="137160"/>
                </a:moveTo>
                <a:lnTo>
                  <a:pt x="109728" y="0"/>
                </a:lnTo>
                <a:lnTo>
                  <a:pt x="178308" y="68580"/>
                </a:lnTo>
                <a:lnTo>
                  <a:pt x="233172" y="13716"/>
                </a:lnTo>
                <a:lnTo>
                  <a:pt x="329184" y="137160"/>
                </a:lnTo>
              </a:path>
            </a:pathLst>
          </a:custGeom>
          <a:noFill/>
          <a:ln w="19354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5578" y="4434079"/>
            <a:ext cx="4572000" cy="4358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Multimodal</a:t>
            </a:r>
          </a:p>
          <a:p>
            <a:pPr algn="ctr"/>
            <a:r>
              <a:rPr sz="1200" b="0">
                <a:solidFill>
                  <a:srgbClr val="2D2D2D"/>
                </a:solidFill>
              </a:rPr>
              <a:t>interfaces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496562" y="4199382"/>
            <a:ext cx="178308" cy="0"/>
          </a:xfrm>
          <a:prstGeom prst="line">
            <a:avLst/>
          </a:prstGeom>
          <a:ln w="38709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674870" y="3856482"/>
            <a:ext cx="0" cy="342900"/>
          </a:xfrm>
          <a:prstGeom prst="line">
            <a:avLst/>
          </a:prstGeom>
          <a:ln w="38709">
            <a:solidFill>
              <a:srgbClr val="2D2D2D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347722" y="4434079"/>
            <a:ext cx="4572000" cy="4358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Self-</a:t>
            </a:r>
          </a:p>
          <a:p>
            <a:pPr algn="ctr"/>
            <a:r>
              <a:rPr sz="1200" b="0">
                <a:solidFill>
                  <a:srgbClr val="2D2D2D"/>
                </a:solidFill>
              </a:rPr>
              <a:t>improvement</a:t>
            </a:r>
          </a:p>
        </p:txBody>
      </p:sp>
      <p:sp>
        <p:nvSpPr>
          <p:cNvPr id="55" name="Freeform 54"/>
          <p:cNvSpPr/>
          <p:nvPr/>
        </p:nvSpPr>
        <p:spPr>
          <a:xfrm>
            <a:off x="5648706" y="3870198"/>
            <a:ext cx="274320" cy="384048"/>
          </a:xfrm>
          <a:custGeom>
            <a:avLst/>
            <a:gdLst/>
            <a:ahLst/>
            <a:cxnLst/>
            <a:rect l="l" t="t" r="r" b="b"/>
            <a:pathLst>
              <a:path w="274320" h="384048">
                <a:moveTo>
                  <a:pt x="0" y="0"/>
                </a:moveTo>
                <a:lnTo>
                  <a:pt x="274320" y="0"/>
                </a:lnTo>
                <a:lnTo>
                  <a:pt x="274320" y="178308"/>
                </a:lnTo>
                <a:lnTo>
                  <a:pt x="273382" y="200660"/>
                </a:lnTo>
                <a:lnTo>
                  <a:pt x="270676" y="221465"/>
                </a:lnTo>
                <a:lnTo>
                  <a:pt x="266363" y="240783"/>
                </a:lnTo>
                <a:lnTo>
                  <a:pt x="260603" y="258675"/>
                </a:lnTo>
                <a:lnTo>
                  <a:pt x="253558" y="275200"/>
                </a:lnTo>
                <a:lnTo>
                  <a:pt x="245387" y="290420"/>
                </a:lnTo>
                <a:lnTo>
                  <a:pt x="236252" y="304394"/>
                </a:lnTo>
                <a:lnTo>
                  <a:pt x="226313" y="317182"/>
                </a:lnTo>
                <a:lnTo>
                  <a:pt x="215732" y="328845"/>
                </a:lnTo>
                <a:lnTo>
                  <a:pt x="204668" y="339444"/>
                </a:lnTo>
                <a:lnTo>
                  <a:pt x="193283" y="349038"/>
                </a:lnTo>
                <a:lnTo>
                  <a:pt x="181736" y="357687"/>
                </a:lnTo>
                <a:lnTo>
                  <a:pt x="170190" y="365453"/>
                </a:lnTo>
                <a:lnTo>
                  <a:pt x="158805" y="372394"/>
                </a:lnTo>
                <a:lnTo>
                  <a:pt x="147741" y="378572"/>
                </a:lnTo>
                <a:lnTo>
                  <a:pt x="137160" y="384048"/>
                </a:lnTo>
                <a:lnTo>
                  <a:pt x="137160" y="384048"/>
                </a:lnTo>
                <a:lnTo>
                  <a:pt x="126578" y="378572"/>
                </a:lnTo>
                <a:lnTo>
                  <a:pt x="115514" y="372394"/>
                </a:lnTo>
                <a:lnTo>
                  <a:pt x="104129" y="365453"/>
                </a:lnTo>
                <a:lnTo>
                  <a:pt x="92583" y="357687"/>
                </a:lnTo>
                <a:lnTo>
                  <a:pt x="81036" y="349038"/>
                </a:lnTo>
                <a:lnTo>
                  <a:pt x="69651" y="339444"/>
                </a:lnTo>
                <a:lnTo>
                  <a:pt x="58587" y="328845"/>
                </a:lnTo>
                <a:lnTo>
                  <a:pt x="48006" y="317182"/>
                </a:lnTo>
                <a:lnTo>
                  <a:pt x="38067" y="304394"/>
                </a:lnTo>
                <a:lnTo>
                  <a:pt x="28932" y="290420"/>
                </a:lnTo>
                <a:lnTo>
                  <a:pt x="20761" y="275200"/>
                </a:lnTo>
                <a:lnTo>
                  <a:pt x="13716" y="258675"/>
                </a:lnTo>
                <a:lnTo>
                  <a:pt x="7956" y="240783"/>
                </a:lnTo>
                <a:lnTo>
                  <a:pt x="3643" y="221465"/>
                </a:lnTo>
                <a:lnTo>
                  <a:pt x="937" y="200660"/>
                </a:lnTo>
                <a:lnTo>
                  <a:pt x="0" y="178308"/>
                </a:lnTo>
                <a:close/>
              </a:path>
            </a:pathLst>
          </a:cu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99866" y="4434079"/>
            <a:ext cx="4572000" cy="4358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Safety/</a:t>
            </a:r>
          </a:p>
          <a:p>
            <a:pPr algn="ctr"/>
            <a:r>
              <a:rPr sz="1200" b="0">
                <a:solidFill>
                  <a:srgbClr val="2D2D2D"/>
                </a:solidFill>
              </a:rPr>
              <a:t>security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38009" y="4034790"/>
            <a:ext cx="178308" cy="0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082027" y="4000500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6938009" y="3880370"/>
            <a:ext cx="89155" cy="154420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992873" y="3846080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H="1" flipV="1">
            <a:off x="6848855" y="3880370"/>
            <a:ext cx="89154" cy="154420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814565" y="3846080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H="1">
            <a:off x="6759702" y="4034790"/>
            <a:ext cx="178307" cy="0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725411" y="4000500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H="1">
            <a:off x="6848855" y="4034790"/>
            <a:ext cx="89154" cy="154419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6814565" y="4154919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938009" y="4034790"/>
            <a:ext cx="89155" cy="154419"/>
          </a:xfrm>
          <a:prstGeom prst="line">
            <a:avLst/>
          </a:prstGeom>
          <a:ln w="19354">
            <a:solidFill>
              <a:srgbClr val="2D2D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6992873" y="4154919"/>
            <a:ext cx="68580" cy="6858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90003" y="3986784"/>
            <a:ext cx="96012" cy="96012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2009" y="4529329"/>
            <a:ext cx="4572000" cy="245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Orchestration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234940"/>
            <a:ext cx="7200900" cy="1303020"/>
          </a:xfrm>
          <a:prstGeom prst="roundRect">
            <a:avLst>
              <a:gd name="adj" fmla="val 3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680460" y="5337810"/>
            <a:ext cx="754379" cy="548640"/>
          </a:xfrm>
          <a:prstGeom prst="roundRect">
            <a:avLst>
              <a:gd name="adj" fmla="val 5000"/>
            </a:avLst>
          </a:prstGeom>
          <a:noFill/>
          <a:ln w="2903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3680460" y="5701284"/>
            <a:ext cx="754380" cy="0"/>
          </a:xfrm>
          <a:prstGeom prst="line">
            <a:avLst/>
          </a:prstGeom>
          <a:ln w="19354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680460" y="5522976"/>
            <a:ext cx="754380" cy="0"/>
          </a:xfrm>
          <a:prstGeom prst="line">
            <a:avLst/>
          </a:prstGeom>
          <a:ln w="19354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283964" y="5763006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83964" y="557784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83964" y="5392674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1490" y="5993003"/>
            <a:ext cx="7132320" cy="404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DOE HPC AND COMPUTE RESOURCES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03820" y="516128"/>
            <a:ext cx="4572000" cy="1070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22A4A"/>
                </a:solidFill>
              </a:rPr>
              <a:t>FASTER</a:t>
            </a:r>
          </a:p>
          <a:p>
            <a:pPr algn="ctr"/>
            <a:r>
              <a:rPr sz="3200" b="1">
                <a:solidFill>
                  <a:srgbClr val="122A4A"/>
                </a:solidFill>
              </a:rPr>
              <a:t>SCIENCE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3820" y="2827528"/>
            <a:ext cx="4572000" cy="562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22A4A"/>
                </a:solidFill>
              </a:rPr>
              <a:t>SAFER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03820" y="4768088"/>
            <a:ext cx="4572000" cy="10708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22A4A"/>
                </a:solidFill>
              </a:rPr>
              <a:t>SCALABLE</a:t>
            </a:r>
          </a:p>
          <a:p>
            <a:pPr algn="ctr"/>
            <a:r>
              <a:rPr sz="3200" b="1">
                <a:solidFill>
                  <a:srgbClr val="122A4A"/>
                </a:solidFill>
              </a:rPr>
              <a:t>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