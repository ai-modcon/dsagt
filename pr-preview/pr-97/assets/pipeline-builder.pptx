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68699" y="236025"/>
            <a:ext cx="10058400" cy="63119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3400" b="1" i="0">
                <a:solidFill>
                  <a:srgbClr val="2D2622"/>
                </a:solidFill>
                <a:latin typeface="Times New Roman"/>
              </a:rPr>
              <a:t>DSAgt: Agentic Data Pipeline Builder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1462" y="829644"/>
            <a:ext cx="10972800" cy="361315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700" b="0" i="0">
                <a:solidFill>
                  <a:srgbClr val="57514E"/>
                </a:solidFill>
              </a:rPr>
              <a:t>Build reproducible, auditable data-curation pipelines interactively, with any MCP-compatible agent.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831305" y="3664101"/>
            <a:ext cx="1965777" cy="85183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47541" y="3893442"/>
            <a:ext cx="550417" cy="393155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5047541" y="3998283"/>
            <a:ext cx="550417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086856" y="3926204"/>
            <a:ext cx="39315" cy="39315"/>
          </a:xfrm>
          <a:prstGeom prst="ellipse">
            <a:avLst/>
          </a:prstGeom>
          <a:solidFill>
            <a:srgbClr val="7A4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152382" y="3926204"/>
            <a:ext cx="39315" cy="39315"/>
          </a:xfrm>
          <a:prstGeom prst="ellipse">
            <a:avLst/>
          </a:prstGeom>
          <a:solidFill>
            <a:srgbClr val="7A4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" name="Connector 8"/>
          <p:cNvCxnSpPr/>
          <p:nvPr/>
        </p:nvCxnSpPr>
        <p:spPr>
          <a:xfrm>
            <a:off x="5126172" y="4076914"/>
            <a:ext cx="65526" cy="52421"/>
          </a:xfrm>
          <a:prstGeom prst="line">
            <a:avLst/>
          </a:prstGeom>
          <a:ln w="2794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5126172" y="4129335"/>
            <a:ext cx="65526" cy="52421"/>
          </a:xfrm>
          <a:prstGeom prst="line">
            <a:avLst/>
          </a:prstGeom>
          <a:ln w="2794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5257223" y="4194861"/>
            <a:ext cx="91737" cy="0"/>
          </a:xfrm>
          <a:prstGeom prst="line">
            <a:avLst/>
          </a:prstGeom>
          <a:ln w="2794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715905" y="3917299"/>
            <a:ext cx="13716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D2622"/>
                </a:solidFill>
              </a:rPr>
              <a:t>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8194" y="4562595"/>
            <a:ext cx="4572000" cy="2343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4E382E"/>
                </a:solidFill>
              </a:rPr>
              <a:t>claude code · goose · codex · cline · opencode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56994" y="3383129"/>
            <a:ext cx="914400" cy="234314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900" b="0" i="1">
                <a:solidFill>
                  <a:srgbClr val="7A4632"/>
                </a:solidFill>
              </a:rPr>
              <a:t>MCP</a:t>
            </a:r>
          </a:p>
        </p:txBody>
      </p:sp>
      <p:sp>
        <p:nvSpPr>
          <p:cNvPr id="15" name="Oval 14"/>
          <p:cNvSpPr/>
          <p:nvPr/>
        </p:nvSpPr>
        <p:spPr>
          <a:xfrm>
            <a:off x="5273605" y="1560719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135634" y="1350123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786278" y="1238067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389005" y="1276984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29704" y="1448663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129704" y="1672775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389005" y="1844455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786278" y="1883371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35634" y="1771316"/>
            <a:ext cx="556970" cy="47178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290716" y="1387076"/>
            <a:ext cx="1343281" cy="819073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805095" y="1829376"/>
            <a:ext cx="314524" cy="1179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805095" y="1724534"/>
            <a:ext cx="314524" cy="1179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805095" y="1619693"/>
            <a:ext cx="314524" cy="11794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-527005" y="1460078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600" b="1" i="0">
                <a:solidFill>
                  <a:srgbClr val="2D2622"/>
                </a:solidFill>
              </a:rPr>
              <a:t>1. Knowledge Base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-527005" y="1691444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r"/>
            <a:r>
              <a:rPr sz="1200" b="0" i="0">
                <a:solidFill>
                  <a:srgbClr val="4E382E"/>
                </a:solidFill>
              </a:rPr>
              <a:t>ChromaDB collections</a:t>
            </a:r>
          </a:p>
          <a:p>
            <a:pPr algn="r"/>
            <a:r>
              <a:rPr sz="1200" b="0" i="0">
                <a:solidFill>
                  <a:srgbClr val="4E382E"/>
                </a:solidFill>
              </a:rPr>
              <a:t>semantic + keyword search (RRF)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962357" y="2386346"/>
            <a:ext cx="589733" cy="1277755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Hexagon 30"/>
          <p:cNvSpPr/>
          <p:nvPr/>
        </p:nvSpPr>
        <p:spPr>
          <a:xfrm rot="5400000">
            <a:off x="6043534" y="1257662"/>
            <a:ext cx="1244992" cy="1077901"/>
          </a:xfrm>
          <a:prstGeom prst="hexagon">
            <a:avLst>
              <a:gd name="adj" fmla="val 28999"/>
              <a:gd name="vf" fmla="val 115470"/>
            </a:avLst>
          </a:prstGeom>
          <a:solidFill>
            <a:srgbClr val="FFFFFF"/>
          </a:solidFill>
          <a:ln w="19050">
            <a:solidFill>
              <a:srgbClr val="B06C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6508768" y="1980085"/>
            <a:ext cx="235893" cy="78631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3" name="Connector 32"/>
          <p:cNvCxnSpPr/>
          <p:nvPr/>
        </p:nvCxnSpPr>
        <p:spPr>
          <a:xfrm flipH="1" flipV="1">
            <a:off x="6587399" y="1796613"/>
            <a:ext cx="39316" cy="183472"/>
          </a:xfrm>
          <a:prstGeom prst="line">
            <a:avLst/>
          </a:prstGeom>
          <a:ln w="3429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6587399" y="1704876"/>
            <a:ext cx="183473" cy="91737"/>
          </a:xfrm>
          <a:prstGeom prst="line">
            <a:avLst/>
          </a:prstGeom>
          <a:ln w="3429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6554636" y="1763850"/>
            <a:ext cx="65525" cy="65525"/>
          </a:xfrm>
          <a:prstGeom prst="ellipse">
            <a:avLst/>
          </a:prstGeom>
          <a:solidFill>
            <a:srgbClr val="7A46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V="1">
            <a:off x="6770872" y="1639350"/>
            <a:ext cx="78631" cy="65526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6770872" y="1704876"/>
            <a:ext cx="91736" cy="39316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386815" y="1460078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D2622"/>
                </a:solidFill>
              </a:rPr>
              <a:t>2. Agent Skills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86815" y="1691444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E382E"/>
                </a:solidFill>
              </a:rPr>
              <a:t>instruction workflows</a:t>
            </a:r>
          </a:p>
          <a:p>
            <a:pPr algn="l"/>
            <a:r>
              <a:rPr sz="1200" b="0" i="0">
                <a:solidFill>
                  <a:srgbClr val="4E382E"/>
                </a:solidFill>
              </a:rPr>
              <a:t>for specialized tasks</a:t>
            </a:r>
          </a:p>
        </p:txBody>
      </p:sp>
      <p:cxnSp>
        <p:nvCxnSpPr>
          <p:cNvPr id="40" name="Connector 39"/>
          <p:cNvCxnSpPr/>
          <p:nvPr/>
        </p:nvCxnSpPr>
        <p:spPr>
          <a:xfrm flipH="1">
            <a:off x="6076297" y="2451872"/>
            <a:ext cx="589733" cy="1212229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768699" y="2442966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D2622"/>
                </a:solidFill>
              </a:rPr>
              <a:t>3. Code Registry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68699" y="2674333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E382E"/>
                </a:solidFill>
              </a:rPr>
              <a:t>registered CLI codes</a:t>
            </a:r>
          </a:p>
          <a:p>
            <a:pPr algn="l"/>
            <a:r>
              <a:rPr sz="1200" b="0" i="0">
                <a:solidFill>
                  <a:srgbClr val="4E382E"/>
                </a:solidFill>
              </a:rPr>
              <a:t>user- and agent-defined operations</a:t>
            </a:r>
          </a:p>
        </p:txBody>
      </p:sp>
      <p:cxnSp>
        <p:nvCxnSpPr>
          <p:cNvPr id="43" name="Connector 42"/>
          <p:cNvCxnSpPr/>
          <p:nvPr/>
        </p:nvCxnSpPr>
        <p:spPr>
          <a:xfrm flipV="1">
            <a:off x="3455261" y="2543608"/>
            <a:ext cx="0" cy="65526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3455261" y="2543608"/>
            <a:ext cx="131052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3586313" y="2543608"/>
            <a:ext cx="0" cy="65526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Rounded Rectangle 45"/>
          <p:cNvSpPr/>
          <p:nvPr/>
        </p:nvSpPr>
        <p:spPr>
          <a:xfrm>
            <a:off x="3324209" y="2609134"/>
            <a:ext cx="393155" cy="235893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7" name="Connector 46"/>
          <p:cNvCxnSpPr/>
          <p:nvPr/>
        </p:nvCxnSpPr>
        <p:spPr>
          <a:xfrm>
            <a:off x="3324209" y="2713975"/>
            <a:ext cx="393156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717365" y="2845027"/>
            <a:ext cx="1244992" cy="819074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8409019" y="2497740"/>
            <a:ext cx="0" cy="58973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8409019" y="2871237"/>
            <a:ext cx="0" cy="58974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8658018" y="2805712"/>
            <a:ext cx="58973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H="1">
            <a:off x="8284520" y="2805712"/>
            <a:ext cx="58974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8500756" y="2497740"/>
            <a:ext cx="0" cy="58973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8500756" y="2871237"/>
            <a:ext cx="0" cy="58974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8658018" y="2713975"/>
            <a:ext cx="58973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H="1">
            <a:off x="8284520" y="2713975"/>
            <a:ext cx="58974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8592492" y="2497740"/>
            <a:ext cx="0" cy="58973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8592492" y="2871237"/>
            <a:ext cx="0" cy="58974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8658018" y="2622239"/>
            <a:ext cx="58973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H="1">
            <a:off x="8284520" y="2622239"/>
            <a:ext cx="58974" cy="0"/>
          </a:xfrm>
          <a:prstGeom prst="line">
            <a:avLst/>
          </a:prstGeom>
          <a:ln w="1905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ounded Rectangle 60"/>
          <p:cNvSpPr/>
          <p:nvPr/>
        </p:nvSpPr>
        <p:spPr>
          <a:xfrm>
            <a:off x="8343494" y="2556713"/>
            <a:ext cx="314524" cy="314524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422125" y="2635344"/>
            <a:ext cx="157262" cy="157262"/>
          </a:xfrm>
          <a:prstGeom prst="rect">
            <a:avLst/>
          </a:prstGeom>
          <a:noFill/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26674" y="2410203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600" b="1" i="0">
                <a:solidFill>
                  <a:srgbClr val="2D2622"/>
                </a:solidFill>
              </a:rPr>
              <a:t>4. Memory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926674" y="2641570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4E382E"/>
                </a:solidFill>
              </a:rPr>
              <a:t>explicit facts · episodic</a:t>
            </a:r>
          </a:p>
          <a:p>
            <a:pPr algn="l"/>
            <a:r>
              <a:rPr sz="1200" b="0" i="0">
                <a:solidFill>
                  <a:srgbClr val="4E382E"/>
                </a:solidFill>
              </a:rPr>
              <a:t>session record</a:t>
            </a:r>
          </a:p>
        </p:txBody>
      </p:sp>
      <p:cxnSp>
        <p:nvCxnSpPr>
          <p:cNvPr id="65" name="Connector 64"/>
          <p:cNvCxnSpPr/>
          <p:nvPr/>
        </p:nvCxnSpPr>
        <p:spPr>
          <a:xfrm flipH="1">
            <a:off x="6666030" y="2845027"/>
            <a:ext cx="1605385" cy="819074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Oval 65"/>
          <p:cNvSpPr/>
          <p:nvPr/>
        </p:nvSpPr>
        <p:spPr>
          <a:xfrm>
            <a:off x="1201170" y="3670653"/>
            <a:ext cx="183472" cy="183472"/>
          </a:xfrm>
          <a:prstGeom prst="ellipse">
            <a:avLst/>
          </a:prstGeom>
          <a:solidFill>
            <a:srgbClr val="B0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Freeform 66"/>
          <p:cNvSpPr/>
          <p:nvPr/>
        </p:nvSpPr>
        <p:spPr>
          <a:xfrm>
            <a:off x="1122539" y="3867231"/>
            <a:ext cx="340735" cy="314525"/>
          </a:xfrm>
          <a:custGeom>
            <a:avLst/>
            <a:gdLst/>
            <a:ahLst/>
            <a:cxnLst/>
            <a:rect l="l" t="t" r="r" b="b"/>
            <a:pathLst>
              <a:path w="340735" h="314525">
                <a:moveTo>
                  <a:pt x="0" y="314525"/>
                </a:moveTo>
                <a:lnTo>
                  <a:pt x="14416" y="165781"/>
                </a:lnTo>
                <a:lnTo>
                  <a:pt x="53076" y="68802"/>
                </a:lnTo>
                <a:lnTo>
                  <a:pt x="107462" y="15726"/>
                </a:lnTo>
                <a:lnTo>
                  <a:pt x="170367" y="0"/>
                </a:lnTo>
                <a:lnTo>
                  <a:pt x="233272" y="15726"/>
                </a:lnTo>
                <a:lnTo>
                  <a:pt x="287659" y="68802"/>
                </a:lnTo>
                <a:lnTo>
                  <a:pt x="326319" y="165781"/>
                </a:lnTo>
                <a:lnTo>
                  <a:pt x="340735" y="314525"/>
                </a:lnTo>
                <a:close/>
              </a:path>
            </a:pathLst>
          </a:custGeom>
          <a:solidFill>
            <a:srgbClr val="B06C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ounded Rectangle 67"/>
          <p:cNvSpPr/>
          <p:nvPr/>
        </p:nvSpPr>
        <p:spPr>
          <a:xfrm>
            <a:off x="1450168" y="3500286"/>
            <a:ext cx="353839" cy="235893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Freeform 68"/>
          <p:cNvSpPr/>
          <p:nvPr/>
        </p:nvSpPr>
        <p:spPr>
          <a:xfrm>
            <a:off x="1489484" y="3736179"/>
            <a:ext cx="78631" cy="78631"/>
          </a:xfrm>
          <a:custGeom>
            <a:avLst/>
            <a:gdLst/>
            <a:ahLst/>
            <a:cxnLst/>
            <a:rect l="l" t="t" r="r" b="b"/>
            <a:pathLst>
              <a:path w="78631" h="78631">
                <a:moveTo>
                  <a:pt x="0" y="0"/>
                </a:moveTo>
                <a:lnTo>
                  <a:pt x="78631" y="0"/>
                </a:lnTo>
                <a:lnTo>
                  <a:pt x="0" y="78631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0" name="Connector 69"/>
          <p:cNvCxnSpPr/>
          <p:nvPr/>
        </p:nvCxnSpPr>
        <p:spPr>
          <a:xfrm>
            <a:off x="1502589" y="3578917"/>
            <a:ext cx="248999" cy="0"/>
          </a:xfrm>
          <a:prstGeom prst="line">
            <a:avLst/>
          </a:prstGeom>
          <a:ln w="1016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1502589" y="3657548"/>
            <a:ext cx="196578" cy="0"/>
          </a:xfrm>
          <a:prstGeom prst="line">
            <a:avLst/>
          </a:prstGeom>
          <a:ln w="1016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TextBox 71"/>
          <p:cNvSpPr txBox="1"/>
          <p:nvPr/>
        </p:nvSpPr>
        <p:spPr>
          <a:xfrm>
            <a:off x="-993093" y="4408744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D2622"/>
                </a:solidFill>
              </a:rPr>
              <a:t>User Interaction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-993093" y="4637071"/>
            <a:ext cx="45720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</a:rPr>
              <a:t>confirms each step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2013691" y="4090019"/>
            <a:ext cx="2804509" cy="0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5" name="TextBox 74"/>
          <p:cNvSpPr txBox="1"/>
          <p:nvPr/>
        </p:nvSpPr>
        <p:spPr>
          <a:xfrm>
            <a:off x="972683" y="3493407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</a:rPr>
              <a:t>interactive data preparation</a:t>
            </a:r>
          </a:p>
          <a:p>
            <a:pPr algn="ctr"/>
            <a:r>
              <a:rPr sz="1200" b="0" i="0">
                <a:solidFill>
                  <a:srgbClr val="4E382E"/>
                </a:solidFill>
              </a:rPr>
              <a:t>one step at a time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9450881" y="3958967"/>
            <a:ext cx="262103" cy="262103"/>
          </a:xfrm>
          <a:prstGeom prst="roundRect">
            <a:avLst>
              <a:gd name="adj" fmla="val 20000"/>
            </a:avLst>
          </a:prstGeom>
          <a:solidFill>
            <a:srgbClr val="EBDAD4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ounded Rectangle 76"/>
          <p:cNvSpPr/>
          <p:nvPr/>
        </p:nvSpPr>
        <p:spPr>
          <a:xfrm>
            <a:off x="9942326" y="3958967"/>
            <a:ext cx="262103" cy="262103"/>
          </a:xfrm>
          <a:prstGeom prst="roundRect">
            <a:avLst>
              <a:gd name="adj" fmla="val 20000"/>
            </a:avLst>
          </a:prstGeom>
          <a:solidFill>
            <a:srgbClr val="EBDAD4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ounded Rectangle 77"/>
          <p:cNvSpPr/>
          <p:nvPr/>
        </p:nvSpPr>
        <p:spPr>
          <a:xfrm>
            <a:off x="10433770" y="3958967"/>
            <a:ext cx="262103" cy="262103"/>
          </a:xfrm>
          <a:prstGeom prst="roundRect">
            <a:avLst>
              <a:gd name="adj" fmla="val 20000"/>
            </a:avLst>
          </a:prstGeom>
          <a:solidFill>
            <a:srgbClr val="EBDAD4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9" name="Connector 78"/>
          <p:cNvCxnSpPr/>
          <p:nvPr/>
        </p:nvCxnSpPr>
        <p:spPr>
          <a:xfrm>
            <a:off x="9726090" y="4090019"/>
            <a:ext cx="190025" cy="0"/>
          </a:xfrm>
          <a:prstGeom prst="line">
            <a:avLst/>
          </a:prstGeom>
          <a:ln w="2286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10217534" y="4090019"/>
            <a:ext cx="190025" cy="0"/>
          </a:xfrm>
          <a:prstGeom prst="line">
            <a:avLst/>
          </a:prstGeom>
          <a:ln w="2286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6797082" y="4090019"/>
            <a:ext cx="2640694" cy="0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821600" y="3719709"/>
            <a:ext cx="45720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  <a:latin typeface="Courier New"/>
              </a:rPr>
              <a:t>reconstruct_pipeline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7787377" y="4408744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D2622"/>
                </a:solidFill>
              </a:rPr>
              <a:t>Generated Data Pipeline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7787377" y="4637071"/>
            <a:ext cx="4572000" cy="2819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  <a:latin typeface="Courier New"/>
              </a:rPr>
              <a:t>pipeline.sh</a:t>
            </a:r>
            <a:r>
              <a:rPr sz="1200" b="0" i="0">
                <a:solidFill>
                  <a:srgbClr val="4E382E"/>
                </a:solidFill>
              </a:rPr>
              <a:t> · </a:t>
            </a:r>
            <a:r>
              <a:rPr sz="1200" b="0" i="0">
                <a:solidFill>
                  <a:srgbClr val="4E382E"/>
                </a:solidFill>
                <a:latin typeface="Courier New"/>
              </a:rPr>
              <a:t>Snakefile</a:t>
            </a:r>
            <a:r>
              <a:rPr sz="1200" b="0" i="0">
                <a:solidFill>
                  <a:srgbClr val="4E382E"/>
                </a:solidFill>
              </a:rPr>
              <a:t> · audit trail</a:t>
            </a:r>
          </a:p>
        </p:txBody>
      </p:sp>
      <p:sp>
        <p:nvSpPr>
          <p:cNvPr id="85" name="Freeform 84"/>
          <p:cNvSpPr/>
          <p:nvPr/>
        </p:nvSpPr>
        <p:spPr>
          <a:xfrm>
            <a:off x="4031889" y="5367774"/>
            <a:ext cx="288314" cy="393156"/>
          </a:xfrm>
          <a:custGeom>
            <a:avLst/>
            <a:gdLst/>
            <a:ahLst/>
            <a:cxnLst/>
            <a:rect l="l" t="t" r="r" b="b"/>
            <a:pathLst>
              <a:path w="288314" h="393156">
                <a:moveTo>
                  <a:pt x="0" y="0"/>
                </a:moveTo>
                <a:lnTo>
                  <a:pt x="288314" y="0"/>
                </a:lnTo>
                <a:lnTo>
                  <a:pt x="288314" y="340735"/>
                </a:lnTo>
                <a:lnTo>
                  <a:pt x="216236" y="393156"/>
                </a:lnTo>
                <a:lnTo>
                  <a:pt x="144157" y="340735"/>
                </a:lnTo>
                <a:lnTo>
                  <a:pt x="72079" y="393156"/>
                </a:lnTo>
                <a:lnTo>
                  <a:pt x="0" y="340735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6" name="Connector 85"/>
          <p:cNvCxnSpPr/>
          <p:nvPr/>
        </p:nvCxnSpPr>
        <p:spPr>
          <a:xfrm>
            <a:off x="4090862" y="5459511"/>
            <a:ext cx="170368" cy="0"/>
          </a:xfrm>
          <a:prstGeom prst="line">
            <a:avLst/>
          </a:prstGeom>
          <a:ln w="1016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090862" y="5538142"/>
            <a:ext cx="170368" cy="0"/>
          </a:xfrm>
          <a:prstGeom prst="line">
            <a:avLst/>
          </a:prstGeom>
          <a:ln w="1016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090862" y="5616773"/>
            <a:ext cx="170368" cy="0"/>
          </a:xfrm>
          <a:prstGeom prst="line">
            <a:avLst/>
          </a:prstGeom>
          <a:ln w="1016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9" name="TextBox 88"/>
          <p:cNvSpPr txBox="1"/>
          <p:nvPr/>
        </p:nvSpPr>
        <p:spPr>
          <a:xfrm>
            <a:off x="1890046" y="5817550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D2622"/>
                </a:solidFill>
              </a:rPr>
              <a:t>5. Provenance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890046" y="6048917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  <a:latin typeface="Courier New"/>
              </a:rPr>
              <a:t>dsagt-run</a:t>
            </a:r>
            <a:r>
              <a:rPr sz="1200" b="0" i="0">
                <a:solidFill>
                  <a:srgbClr val="4E382E"/>
                </a:solidFill>
              </a:rPr>
              <a:t> records every run</a:t>
            </a:r>
          </a:p>
          <a:p>
            <a:pPr algn="ctr"/>
            <a:r>
              <a:rPr sz="1200" b="0" i="0">
                <a:solidFill>
                  <a:srgbClr val="4E382E"/>
                </a:solidFill>
              </a:rPr>
              <a:t>the archive backs reconstruction</a:t>
            </a:r>
          </a:p>
        </p:txBody>
      </p:sp>
      <p:cxnSp>
        <p:nvCxnSpPr>
          <p:cNvPr id="91" name="Connector 90"/>
          <p:cNvCxnSpPr/>
          <p:nvPr/>
        </p:nvCxnSpPr>
        <p:spPr>
          <a:xfrm flipH="1">
            <a:off x="4241572" y="4352123"/>
            <a:ext cx="589733" cy="884600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7255764" y="5616773"/>
            <a:ext cx="91736" cy="131051"/>
          </a:xfrm>
          <a:prstGeom prst="rect">
            <a:avLst/>
          </a:prstGeom>
          <a:solidFill>
            <a:srgbClr val="D8B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86815" y="5551247"/>
            <a:ext cx="91736" cy="196577"/>
          </a:xfrm>
          <a:prstGeom prst="rect">
            <a:avLst/>
          </a:prstGeom>
          <a:solidFill>
            <a:srgbClr val="D8B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7517867" y="5485721"/>
            <a:ext cx="91736" cy="262103"/>
          </a:xfrm>
          <a:prstGeom prst="rect">
            <a:avLst/>
          </a:prstGeom>
          <a:solidFill>
            <a:srgbClr val="D8B6A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7393368" y="5374327"/>
            <a:ext cx="196577" cy="196577"/>
          </a:xfrm>
          <a:prstGeom prst="ellipse">
            <a:avLst/>
          </a:prstGeom>
          <a:noFill/>
          <a:ln w="27940">
            <a:solidFill>
              <a:srgbClr val="7A46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6" name="Connector 95"/>
          <p:cNvCxnSpPr/>
          <p:nvPr/>
        </p:nvCxnSpPr>
        <p:spPr>
          <a:xfrm>
            <a:off x="7563735" y="5544694"/>
            <a:ext cx="98289" cy="98289"/>
          </a:xfrm>
          <a:prstGeom prst="line">
            <a:avLst/>
          </a:prstGeom>
          <a:ln w="27940">
            <a:solidFill>
              <a:srgbClr val="7A463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5166341" y="5817550"/>
            <a:ext cx="4572000" cy="345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600" b="1" i="0">
                <a:solidFill>
                  <a:srgbClr val="2D2622"/>
                </a:solidFill>
              </a:rPr>
              <a:t>6. Observability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5166341" y="6048917"/>
            <a:ext cx="4572000" cy="47244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1200" b="0" i="0">
                <a:solidFill>
                  <a:srgbClr val="4E382E"/>
                </a:solidFill>
              </a:rPr>
              <a:t>MLflow traces: agent turns,</a:t>
            </a:r>
          </a:p>
          <a:p>
            <a:pPr algn="ctr"/>
            <a:r>
              <a:rPr sz="1200" b="0" i="0">
                <a:solidFill>
                  <a:srgbClr val="4E382E"/>
                </a:solidFill>
              </a:rPr>
              <a:t>tool spans, code executions</a:t>
            </a:r>
          </a:p>
        </p:txBody>
      </p:sp>
      <p:cxnSp>
        <p:nvCxnSpPr>
          <p:cNvPr id="99" name="Connector 98"/>
          <p:cNvCxnSpPr/>
          <p:nvPr/>
        </p:nvCxnSpPr>
        <p:spPr>
          <a:xfrm>
            <a:off x="6797082" y="4352123"/>
            <a:ext cx="589733" cy="884600"/>
          </a:xfrm>
          <a:prstGeom prst="line">
            <a:avLst/>
          </a:prstGeom>
          <a:ln w="27940">
            <a:solidFill>
              <a:srgbClr val="B06C52"/>
            </a:solidFill>
            <a:tailEnd type="stealth" w="med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