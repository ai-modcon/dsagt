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10214" y="399330"/>
            <a:ext cx="227960" cy="176485"/>
          </a:xfrm>
          <a:prstGeom prst="roundRect">
            <a:avLst>
              <a:gd name="adj" fmla="val 25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97003" y="384623"/>
            <a:ext cx="1280160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50">
                <a:solidFill>
                  <a:srgbClr val="000000"/>
                </a:solidFill>
              </a:rPr>
              <a:t>External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8238" y="399330"/>
            <a:ext cx="227960" cy="176485"/>
          </a:xfrm>
          <a:prstGeom prst="roundRect">
            <a:avLst>
              <a:gd name="adj" fmla="val 25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75028" y="384623"/>
            <a:ext cx="1280160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50">
                <a:solidFill>
                  <a:srgbClr val="000000"/>
                </a:solidFill>
              </a:rPr>
              <a:t>DSAgt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3659" y="399330"/>
            <a:ext cx="227960" cy="176485"/>
          </a:xfrm>
          <a:prstGeom prst="roundRect">
            <a:avLst>
              <a:gd name="adj" fmla="val 25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60448" y="384623"/>
            <a:ext cx="1280160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50">
                <a:solidFill>
                  <a:srgbClr val="000000"/>
                </a:solidFill>
              </a:rPr>
              <a:t>DSAgt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29622" y="803776"/>
            <a:ext cx="1088327" cy="580931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0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7285" y="1958286"/>
            <a:ext cx="2367848" cy="705942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Courier New"/>
              </a:rPr>
              <a:t>dsagt-server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span per MCP tool call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root tagged </a:t>
            </a:r>
            <a:r>
              <a:rPr sz="800" b="0">
                <a:solidFill>
                  <a:srgbClr val="000000"/>
                </a:solidFill>
                <a:latin typeface="Courier New"/>
              </a:rPr>
              <a:t>dsagt.source</a:t>
            </a:r>
            <a:r>
              <a:rPr sz="800" b="0">
                <a:solidFill>
                  <a:srgbClr val="000000"/>
                </a:solidFill>
              </a:rPr>
              <a:t>: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memory · skill · knowledge · registry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79601" y="2017115"/>
            <a:ext cx="1588370" cy="580931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Courier New"/>
              </a:rPr>
              <a:t>dsagt-run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execution wrapper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603" y="1715619"/>
            <a:ext cx="1691320" cy="580931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50" b="1">
                <a:solidFill>
                  <a:srgbClr val="000000"/>
                </a:solidFill>
              </a:rPr>
              <a:t>Agent Transcript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on-disk session 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7753" y="2862775"/>
            <a:ext cx="2309019" cy="720649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000000"/>
                </a:solidFill>
              </a:rPr>
              <a:t>Trace pipeline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Reader → Translator → </a:t>
            </a:r>
            <a:r>
              <a:rPr sz="800" b="0">
                <a:solidFill>
                  <a:srgbClr val="000000"/>
                </a:solidFill>
                <a:latin typeface="Courier New"/>
              </a:rPr>
              <a:t>MLflowSink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per-agent readers: claude · codex ·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goose · opencode · cline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1103" y="3995224"/>
            <a:ext cx="7162373" cy="1286874"/>
          </a:xfrm>
          <a:prstGeom prst="roundRect">
            <a:avLst>
              <a:gd name="adj" fmla="val 4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18288" bIns="18288"/>
          <a:lstStyle/>
          <a:p>
            <a:pPr algn="ctr"/>
            <a:r>
              <a:rPr sz="1050" b="1">
                <a:solidFill>
                  <a:srgbClr val="000000"/>
                </a:solidFill>
              </a:rPr>
              <a:t>MLflow store</a:t>
            </a:r>
            <a:r>
              <a:rPr sz="850" b="0">
                <a:solidFill>
                  <a:srgbClr val="000000"/>
                </a:solidFill>
              </a:rPr>
              <a:t>   </a:t>
            </a:r>
            <a:r>
              <a:rPr sz="850" b="0">
                <a:solidFill>
                  <a:srgbClr val="000000"/>
                </a:solidFill>
                <a:latin typeface="Courier New"/>
              </a:rPr>
              <a:t>sqlite:///&lt;project&gt;/mlflow.db</a:t>
            </a:r>
            <a:r>
              <a:rPr sz="850" b="0">
                <a:solidFill>
                  <a:srgbClr val="000000"/>
                </a:solidFill>
              </a:rPr>
              <a:t> · serverless · every span tagged with the session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1125" y="4759995"/>
            <a:ext cx="2000170" cy="27208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000000"/>
                </a:solidFill>
                <a:latin typeface="Courier New"/>
              </a:rPr>
              <a:t>kb.*</a:t>
            </a:r>
            <a:r>
              <a:rPr sz="850" b="0">
                <a:solidFill>
                  <a:srgbClr val="000000"/>
                </a:solidFill>
              </a:rPr>
              <a:t> · </a:t>
            </a:r>
            <a:r>
              <a:rPr sz="850" b="0">
                <a:solidFill>
                  <a:srgbClr val="000000"/>
                </a:solidFill>
                <a:latin typeface="Courier New"/>
              </a:rPr>
              <a:t>registry.*</a:t>
            </a:r>
            <a:r>
              <a:rPr sz="850" b="0">
                <a:solidFill>
                  <a:srgbClr val="000000"/>
                </a:solidFill>
              </a:rPr>
              <a:t> spans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8126" y="4759995"/>
            <a:ext cx="1691320" cy="27208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000000"/>
                </a:solidFill>
                <a:latin typeface="Courier New"/>
              </a:rPr>
              <a:t>code.execute</a:t>
            </a:r>
            <a:r>
              <a:rPr sz="850" b="0">
                <a:solidFill>
                  <a:srgbClr val="000000"/>
                </a:solidFill>
              </a:rPr>
              <a:t> spans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1225" y="4759995"/>
            <a:ext cx="2139887" cy="27208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000000"/>
                </a:solidFill>
              </a:rPr>
              <a:t>AGENT turn trees (</a:t>
            </a:r>
            <a:r>
              <a:rPr sz="850" b="0">
                <a:solidFill>
                  <a:srgbClr val="000000"/>
                </a:solidFill>
                <a:latin typeface="Courier New"/>
              </a:rPr>
              <a:t>llm</a:t>
            </a:r>
            <a:r>
              <a:rPr sz="850" b="0">
                <a:solidFill>
                  <a:srgbClr val="000000"/>
                </a:solidFill>
              </a:rPr>
              <a:t> · </a:t>
            </a:r>
            <a:r>
              <a:rPr sz="850" b="0">
                <a:solidFill>
                  <a:srgbClr val="000000"/>
                </a:solidFill>
                <a:latin typeface="Courier New"/>
              </a:rPr>
              <a:t>tool_*</a:t>
            </a:r>
            <a:r>
              <a:rPr sz="850" b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1859" y="5870384"/>
            <a:ext cx="3213508" cy="580931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Courier New"/>
              </a:rPr>
              <a:t>dsagt traces</a:t>
            </a:r>
            <a:r>
              <a:rPr sz="1000" b="0">
                <a:solidFill>
                  <a:srgbClr val="000000"/>
                </a:solidFill>
              </a:rPr>
              <a:t>: MLflow UI over the store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Courier New"/>
              </a:rPr>
              <a:t>dsagt info</a:t>
            </a:r>
            <a:r>
              <a:rPr sz="850" b="0">
                <a:solidFill>
                  <a:srgbClr val="000000"/>
                </a:solidFill>
              </a:rPr>
              <a:t>: session · trace summary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73786" y="1384708"/>
            <a:ext cx="0" cy="632407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32615" y="1698000"/>
            <a:ext cx="3108960" cy="182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i="1">
                <a:solidFill>
                  <a:srgbClr val="464646"/>
                </a:solidFill>
              </a:rPr>
              <a:t>shell: registered codes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441210" y="1583254"/>
            <a:ext cx="2632576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41210" y="1583254"/>
            <a:ext cx="0" cy="375032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95664" y="1396504"/>
            <a:ext cx="3108960" cy="182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i="1">
                <a:solidFill>
                  <a:srgbClr val="464646"/>
                </a:solidFill>
              </a:rPr>
              <a:t>MCP tool calls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73786" y="1583254"/>
            <a:ext cx="2838477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12263" y="1583254"/>
            <a:ext cx="0" cy="132365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53252" y="1396504"/>
            <a:ext cx="3108960" cy="182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i="1">
                <a:solidFill>
                  <a:srgbClr val="464646"/>
                </a:solidFill>
              </a:rPr>
              <a:t>writes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12263" y="2296550"/>
            <a:ext cx="0" cy="566225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44475" y="2477478"/>
            <a:ext cx="3108960" cy="182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i="1">
                <a:solidFill>
                  <a:srgbClr val="464646"/>
                </a:solidFill>
              </a:rPr>
              <a:t>heartbeat read (every 2 min)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41210" y="2664229"/>
            <a:ext cx="0" cy="1330995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00038" y="3234895"/>
            <a:ext cx="3108960" cy="182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i="1">
                <a:solidFill>
                  <a:srgbClr val="464646"/>
                </a:solidFill>
              </a:rPr>
              <a:t>live: </a:t>
            </a:r>
            <a:r>
              <a:rPr sz="850" i="1">
                <a:solidFill>
                  <a:srgbClr val="464646"/>
                </a:solidFill>
                <a:latin typeface="Courier New"/>
              </a:rPr>
              <a:t>mlflow.start_span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73786" y="2598046"/>
            <a:ext cx="0" cy="1397178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47322" y="3205481"/>
            <a:ext cx="3108960" cy="182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i="1">
                <a:solidFill>
                  <a:srgbClr val="464646"/>
                </a:solidFill>
              </a:rPr>
              <a:t>live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12263" y="3583424"/>
            <a:ext cx="0" cy="411800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44475" y="3581182"/>
            <a:ext cx="3108960" cy="3280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i="1">
                <a:solidFill>
                  <a:srgbClr val="464646"/>
                </a:solidFill>
              </a:rPr>
              <a:t>replay: backdated</a:t>
            </a:r>
          </a:p>
          <a:p>
            <a:pPr algn="r"/>
            <a:r>
              <a:rPr sz="850" i="1">
                <a:solidFill>
                  <a:srgbClr val="464646"/>
                </a:solidFill>
                <a:latin typeface="Courier New"/>
              </a:rPr>
              <a:t>start_span_no_context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64937" y="5282098"/>
            <a:ext cx="0" cy="588286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38472" y="5477733"/>
            <a:ext cx="3108960" cy="182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i="1">
                <a:solidFill>
                  <a:srgbClr val="464646"/>
                </a:solidFill>
              </a:rPr>
              <a:t>view · filter by session and </a:t>
            </a:r>
            <a:r>
              <a:rPr sz="850" i="1">
                <a:solidFill>
                  <a:srgbClr val="464646"/>
                </a:solidFill>
                <a:latin typeface="Courier New"/>
              </a:rPr>
              <a:t>dsagt.source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