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099" y="311810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 i="0">
                <a:solidFill>
                  <a:srgbClr val="2D2622"/>
                </a:solidFill>
                <a:latin typeface="Times New Roman"/>
              </a:rPr>
              <a:t>The AI-Readiness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760" y="775411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57514E"/>
                </a:solidFill>
              </a:rPr>
              <a:t>Raw scientific data is not turn-key for AI-driven discovery; an explicit readiness step closes the gap.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77593" y="1645005"/>
            <a:ext cx="8844076" cy="7845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845259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2D2622"/>
                </a:solidFill>
              </a:rPr>
              <a:t>1. Vision:</a:t>
            </a:r>
            <a:r>
              <a:rPr sz="1650" b="0" i="0">
                <a:solidFill>
                  <a:srgbClr val="2D2622"/>
                </a:solidFill>
              </a:rPr>
              <a:t> accelerate and automate scientific discovery with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" y="3178454"/>
            <a:ext cx="4136745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2867558" y="3236061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2D2622"/>
                </a:solidFill>
              </a:rPr>
              <a:t>2. Current status: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557015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14235"/>
                </a:solidFill>
              </a:rPr>
              <a:t>example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346" y="3806647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D2622"/>
                </a:solidFill>
              </a:rPr>
              <a:t>▪ </a:t>
            </a:r>
            <a:r>
              <a:rPr sz="1300" b="0" i="0">
                <a:solidFill>
                  <a:srgbClr val="2D2622"/>
                </a:solidFill>
              </a:rPr>
              <a:t>genomics · materials · nuclear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346" y="4056278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D2622"/>
                </a:solidFill>
              </a:rPr>
              <a:t>▪ </a:t>
            </a:r>
            <a:r>
              <a:rPr sz="1300" b="0" i="0">
                <a:solidFill>
                  <a:srgbClr val="2D2622"/>
                </a:solidFill>
              </a:rPr>
              <a:t>cosmology · fluid dynamics · time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346" y="4305909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D2622"/>
                </a:solidFill>
              </a:rPr>
              <a:t>▪ </a:t>
            </a:r>
            <a:r>
              <a:rPr sz="1300" b="0" i="0">
                <a:solidFill>
                  <a:srgbClr val="2D2622"/>
                </a:solidFill>
              </a:rPr>
              <a:t>scientific images ·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626864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14235"/>
                </a:solidFill>
              </a:rPr>
              <a:t>why it is not turn-key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346" y="4876495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× </a:t>
            </a:r>
            <a:r>
              <a:rPr sz="1300" b="0" i="0">
                <a:solidFill>
                  <a:srgbClr val="2D2622"/>
                </a:solidFill>
              </a:rPr>
              <a:t>heterogeneous metadata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346" y="5126126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× </a:t>
            </a:r>
            <a:r>
              <a:rPr sz="1300" b="0" i="0">
                <a:solidFill>
                  <a:srgbClr val="2D2622"/>
                </a:solidFill>
              </a:rPr>
              <a:t>undocumented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346" y="5375757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× </a:t>
            </a:r>
            <a:r>
              <a:rPr sz="1300" b="0" i="0">
                <a:solidFill>
                  <a:srgbClr val="2D2622"/>
                </a:solidFill>
              </a:rPr>
              <a:t>ad-hoc file layouts and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346" y="5625388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× </a:t>
            </a:r>
            <a:r>
              <a:rPr sz="1300" b="0" i="0">
                <a:solidFill>
                  <a:srgbClr val="2D2622"/>
                </a:solidFill>
              </a:rPr>
              <a:t>unassessed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3449" y="3178454"/>
            <a:ext cx="4136745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6822" y="3236061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2D2622"/>
                </a:solidFill>
              </a:rPr>
              <a:t>3. Target: AI-ready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3080" y="3557015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embedded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3080" y="3842308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full provenance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3080" y="4127601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FAIR compliant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3080" y="4412894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standardized formats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3080" y="4698187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rich annotations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3080" y="4983479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IP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3080" y="5268772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7A4632"/>
                </a:solidFill>
              </a:rPr>
              <a:t>✓ </a:t>
            </a:r>
            <a:r>
              <a:rPr sz="1300" b="0" i="0">
                <a:solidFill>
                  <a:srgbClr val="2D2622"/>
                </a:solidFill>
              </a:rPr>
              <a:t>AI data repository deposit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8622" y="6050584"/>
            <a:ext cx="5486400" cy="6035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>
                <a:solidFill>
                  <a:srgbClr val="4E382E"/>
                </a:solidFill>
              </a:rPr>
              <a:t>curated · safe · reproducible · discoverable ·</a:t>
            </a:r>
          </a:p>
          <a:p>
            <a:pPr algn="ctr"/>
            <a:r>
              <a:rPr sz="1300">
                <a:solidFill>
                  <a:srgbClr val="4E382E"/>
                </a:solidFill>
              </a:rPr>
              <a:t>shareable · cross-compatible · self-explaining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58460" y="4604918"/>
            <a:ext cx="2282343" cy="0"/>
          </a:xfrm>
          <a:prstGeom prst="line">
            <a:avLst/>
          </a:prstGeom>
          <a:ln w="44450">
            <a:solidFill>
              <a:srgbClr val="B06C52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4632" y="4056278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2D2622"/>
                </a:solidFill>
              </a:rPr>
              <a:t>AI-readiness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659782"/>
            <a:ext cx="5486400" cy="6035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>
                <a:solidFill>
                  <a:srgbClr val="4E382E"/>
                </a:solidFill>
              </a:rPr>
              <a:t>curate · standardize</a:t>
            </a:r>
          </a:p>
          <a:p>
            <a:pPr algn="ctr"/>
            <a:r>
              <a:rPr sz="1300">
                <a:solidFill>
                  <a:srgbClr val="4E382E"/>
                </a:solidFill>
              </a:rPr>
              <a:t>document · provenance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847441" y="2429560"/>
            <a:ext cx="0" cy="748894"/>
          </a:xfrm>
          <a:prstGeom prst="line">
            <a:avLst/>
          </a:prstGeom>
          <a:ln w="31750">
            <a:solidFill>
              <a:srgbClr val="B06C52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719059" y="2672059"/>
            <a:ext cx="256764" cy="256764"/>
          </a:xfrm>
          <a:prstGeom prst="line">
            <a:avLst/>
          </a:prstGeom>
          <a:ln w="34925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19059" y="2672059"/>
            <a:ext cx="256764" cy="256764"/>
          </a:xfrm>
          <a:prstGeom prst="line">
            <a:avLst/>
          </a:prstGeom>
          <a:ln w="34925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32734" y="2608417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7A4632"/>
                </a:solidFill>
              </a:rPr>
              <a:t>not turn-key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9551822" y="2429560"/>
            <a:ext cx="0" cy="748894"/>
          </a:xfrm>
          <a:prstGeom prst="line">
            <a:avLst/>
          </a:prstGeom>
          <a:ln w="31750">
            <a:solidFill>
              <a:srgbClr val="B06C52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94468" y="2608417"/>
            <a:ext cx="114300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4E382E"/>
                </a:solidFill>
              </a:rPr>
              <a:t>enables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