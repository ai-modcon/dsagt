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0165" y="1507249"/>
            <a:ext cx="281010" cy="217556"/>
          </a:xfrm>
          <a:prstGeom prst="roundRect">
            <a:avLst>
              <a:gd name="adj" fmla="val 25000"/>
            </a:avLst>
          </a:prstGeom>
          <a:solidFill>
            <a:srgbClr val="E0E0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3695" y="1498184"/>
            <a:ext cx="146304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000000"/>
                </a:solidFill>
              </a:rPr>
              <a:t>External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85792" y="1507249"/>
            <a:ext cx="281010" cy="217556"/>
          </a:xfrm>
          <a:prstGeom prst="roundRect">
            <a:avLst>
              <a:gd name="adj" fmla="val 25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39321" y="1498184"/>
            <a:ext cx="146304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000000"/>
                </a:solidFill>
              </a:rPr>
              <a:t>DSAgt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16894" y="1507249"/>
            <a:ext cx="281010" cy="217556"/>
          </a:xfrm>
          <a:prstGeom prst="roundRect">
            <a:avLst>
              <a:gd name="adj" fmla="val 25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70423" y="1498184"/>
            <a:ext cx="146304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000000"/>
                </a:solidFill>
              </a:rPr>
              <a:t>DSAgt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6050" y="1761065"/>
            <a:ext cx="1332534" cy="707059"/>
          </a:xfrm>
          <a:prstGeom prst="roundRect">
            <a:avLst>
              <a:gd name="adj" fmla="val 10000"/>
            </a:avLst>
          </a:prstGeom>
          <a:solidFill>
            <a:srgbClr val="E0E0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0">
                <a:solidFill>
                  <a:srgbClr val="000000"/>
                </a:solidFill>
              </a:rP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1327" y="3002951"/>
            <a:ext cx="2048658" cy="716124"/>
          </a:xfrm>
          <a:prstGeom prst="roundRect">
            <a:avLst>
              <a:gd name="adj" fmla="val 10000"/>
            </a:avLst>
          </a:prstGeom>
          <a:solidFill>
            <a:srgbClr val="E0E0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100" b="1">
                <a:solidFill>
                  <a:srgbClr val="000000"/>
                </a:solidFill>
              </a:rPr>
              <a:t>Source CLI Tool</a:t>
            </a:r>
          </a:p>
          <a:p>
            <a:pPr algn="ctr"/>
            <a:r>
              <a:rPr sz="850" b="0">
                <a:solidFill>
                  <a:srgbClr val="000000"/>
                </a:solidFill>
              </a:rPr>
              <a:t>script · binary · package</a:t>
            </a:r>
          </a:p>
          <a:p>
            <a:pPr algn="ctr"/>
            <a:r>
              <a:rPr sz="850" b="0">
                <a:solidFill>
                  <a:srgbClr val="000000"/>
                </a:solidFill>
                <a:latin typeface="Courier New"/>
              </a:rPr>
              <a:t>--help</a:t>
            </a:r>
            <a:r>
              <a:rPr sz="850" b="0">
                <a:solidFill>
                  <a:srgbClr val="000000"/>
                </a:solidFill>
              </a:rPr>
              <a:t> · docs · repository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15748" y="2921367"/>
            <a:ext cx="3653139" cy="888356"/>
          </a:xfrm>
          <a:prstGeom prst="roundRect">
            <a:avLst>
              <a:gd name="adj" fmla="val 10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000000"/>
                </a:solidFill>
                <a:latin typeface="Courier New"/>
              </a:rPr>
              <a:t>CodeRegistry</a:t>
            </a:r>
            <a:r>
              <a:rPr sz="1000" b="0">
                <a:solidFill>
                  <a:srgbClr val="000000"/>
                </a:solidFill>
              </a:rPr>
              <a:t>: </a:t>
            </a:r>
            <a:r>
              <a:rPr sz="1000" b="0">
                <a:solidFill>
                  <a:srgbClr val="000000"/>
                </a:solidFill>
                <a:latin typeface="Courier New"/>
              </a:rPr>
              <a:t>codes/&lt;name&gt;/SKILL.md</a:t>
            </a:r>
          </a:p>
          <a:p>
            <a:pPr algn="ctr"/>
            <a:r>
              <a:rPr sz="850" b="0">
                <a:solidFill>
                  <a:srgbClr val="000000"/>
                </a:solidFill>
              </a:rPr>
              <a:t>markdown specs, YAML frontmatter</a:t>
            </a:r>
          </a:p>
          <a:p>
            <a:pPr algn="ctr"/>
            <a:r>
              <a:rPr sz="850" b="0">
                <a:solidFill>
                  <a:srgbClr val="000000"/>
                </a:solidFill>
              </a:rPr>
              <a:t>executable · parameters · deps · tags</a:t>
            </a:r>
          </a:p>
          <a:p>
            <a:pPr algn="ctr"/>
            <a:r>
              <a:rPr sz="850" b="0">
                <a:solidFill>
                  <a:srgbClr val="000000"/>
                </a:solidFill>
              </a:rPr>
              <a:t>command wrapped: </a:t>
            </a:r>
            <a:r>
              <a:rPr sz="850" b="0">
                <a:solidFill>
                  <a:srgbClr val="000000"/>
                </a:solidFill>
                <a:latin typeface="Courier New"/>
              </a:rPr>
              <a:t>dsagt-run</a:t>
            </a:r>
            <a:r>
              <a:rPr sz="850" b="0">
                <a:solidFill>
                  <a:srgbClr val="000000"/>
                </a:solidFill>
              </a:rPr>
              <a:t> · </a:t>
            </a:r>
            <a:r>
              <a:rPr sz="850" b="0">
                <a:solidFill>
                  <a:srgbClr val="000000"/>
                </a:solidFill>
                <a:latin typeface="Courier New"/>
              </a:rPr>
              <a:t>uv run --with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4514" y="3002951"/>
            <a:ext cx="2927950" cy="716124"/>
          </a:xfrm>
          <a:prstGeom prst="roundRect">
            <a:avLst>
              <a:gd name="adj" fmla="val 10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100" b="1">
                <a:solidFill>
                  <a:srgbClr val="000000"/>
                </a:solidFill>
              </a:rPr>
              <a:t>Agent skills dir</a:t>
            </a:r>
          </a:p>
          <a:p>
            <a:pPr algn="ctr"/>
            <a:r>
              <a:rPr sz="850" b="0">
                <a:solidFill>
                  <a:srgbClr val="000000"/>
                </a:solidFill>
              </a:rPr>
              <a:t>.claude · .agents · .cline · .roo /skills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61645" y="4634626"/>
            <a:ext cx="3961344" cy="707059"/>
          </a:xfrm>
          <a:prstGeom prst="roundRect">
            <a:avLst>
              <a:gd name="adj" fmla="val 10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100" b="1">
                <a:solidFill>
                  <a:srgbClr val="000000"/>
                </a:solidFill>
              </a:rPr>
              <a:t>ChromaDB</a:t>
            </a:r>
            <a:r>
              <a:rPr sz="1100" b="0">
                <a:solidFill>
                  <a:srgbClr val="000000"/>
                </a:solidFill>
              </a:rPr>
              <a:t>: </a:t>
            </a:r>
            <a:r>
              <a:rPr sz="1100" b="0">
                <a:solidFill>
                  <a:srgbClr val="000000"/>
                </a:solidFill>
                <a:latin typeface="Courier New"/>
              </a:rPr>
              <a:t>codes</a:t>
            </a:r>
            <a:r>
              <a:rPr sz="1100" b="0">
                <a:solidFill>
                  <a:srgbClr val="000000"/>
                </a:solidFill>
              </a:rPr>
              <a:t> collection</a:t>
            </a:r>
          </a:p>
          <a:p>
            <a:pPr algn="ctr"/>
            <a:r>
              <a:rPr sz="850" b="0">
                <a:solidFill>
                  <a:srgbClr val="000000"/>
                </a:solidFill>
              </a:rPr>
              <a:t>semantic + keyword search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42317" y="2486254"/>
            <a:ext cx="0" cy="208492"/>
          </a:xfrm>
          <a:prstGeom prst="line">
            <a:avLst/>
          </a:prstGeom>
          <a:ln w="19050">
            <a:solidFill>
              <a:srgbClr val="000099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365656" y="2694746"/>
            <a:ext cx="3376661" cy="0"/>
          </a:xfrm>
          <a:prstGeom prst="line">
            <a:avLst/>
          </a:prstGeom>
          <a:ln w="19050">
            <a:solidFill>
              <a:srgbClr val="0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65656" y="2694746"/>
            <a:ext cx="0" cy="290075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37730" y="2103709"/>
            <a:ext cx="292608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464646"/>
                </a:solidFill>
              </a:rPr>
              <a:t>analyze: </a:t>
            </a:r>
            <a:r>
              <a:rPr sz="950" i="1">
                <a:solidFill>
                  <a:srgbClr val="464646"/>
                </a:solidFill>
                <a:latin typeface="Courier New"/>
              </a:rPr>
              <a:t>read_file</a:t>
            </a:r>
            <a:r>
              <a:rPr sz="950" i="1">
                <a:solidFill>
                  <a:srgbClr val="464646"/>
                </a:solidFill>
              </a:rPr>
              <a:t> ·</a:t>
            </a:r>
          </a:p>
          <a:p>
            <a:pPr algn="ctr"/>
            <a:r>
              <a:rPr sz="950" i="1">
                <a:solidFill>
                  <a:srgbClr val="464646"/>
                </a:solidFill>
                <a:latin typeface="Courier New"/>
              </a:rPr>
              <a:t>http_request</a:t>
            </a:r>
            <a:r>
              <a:rPr sz="950" i="1">
                <a:solidFill>
                  <a:srgbClr val="464646"/>
                </a:solidFill>
              </a:rPr>
              <a:t> · </a:t>
            </a:r>
            <a:r>
              <a:rPr sz="950" i="1">
                <a:solidFill>
                  <a:srgbClr val="464646"/>
                </a:solidFill>
                <a:latin typeface="Courier New"/>
              </a:rPr>
              <a:t>run_command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42317" y="2486254"/>
            <a:ext cx="0" cy="416983"/>
          </a:xfrm>
          <a:prstGeom prst="line">
            <a:avLst/>
          </a:prstGeom>
          <a:ln w="19050">
            <a:solidFill>
              <a:srgbClr val="000099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06420" y="2466304"/>
            <a:ext cx="292608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464646"/>
                </a:solidFill>
              </a:rPr>
              <a:t>MCP: </a:t>
            </a:r>
            <a:r>
              <a:rPr sz="950" i="1">
                <a:solidFill>
                  <a:srgbClr val="464646"/>
                </a:solidFill>
                <a:latin typeface="Courier New"/>
              </a:rPr>
              <a:t>save_code_spec</a:t>
            </a:r>
          </a:p>
          <a:p>
            <a:pPr algn="ctr"/>
            <a:r>
              <a:rPr sz="950" i="1">
                <a:solidFill>
                  <a:srgbClr val="464646"/>
                </a:solidFill>
                <a:latin typeface="Courier New"/>
              </a:rPr>
              <a:t>search_registry</a:t>
            </a:r>
            <a:r>
              <a:rPr sz="950" i="1">
                <a:solidFill>
                  <a:srgbClr val="464646"/>
                </a:solidFill>
              </a:rPr>
              <a:t> · </a:t>
            </a:r>
            <a:r>
              <a:rPr sz="950" i="1">
                <a:solidFill>
                  <a:srgbClr val="464646"/>
                </a:solidFill>
                <a:latin typeface="Courier New"/>
              </a:rPr>
              <a:t>install_dependencies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42317" y="3827853"/>
            <a:ext cx="0" cy="788643"/>
          </a:xfrm>
          <a:prstGeom prst="line">
            <a:avLst/>
          </a:prstGeom>
          <a:ln w="19050">
            <a:solidFill>
              <a:srgbClr val="000099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33328" y="4007331"/>
            <a:ext cx="292608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464646"/>
                </a:solidFill>
              </a:rPr>
              <a:t>embed · index</a:t>
            </a:r>
          </a:p>
          <a:p>
            <a:pPr algn="ctr"/>
            <a:r>
              <a:rPr sz="950" i="1">
                <a:solidFill>
                  <a:srgbClr val="464646"/>
                </a:solidFill>
                <a:latin typeface="Courier New"/>
              </a:rPr>
              <a:t>search_registry</a:t>
            </a:r>
            <a:r>
              <a:rPr sz="950" i="1">
                <a:solidFill>
                  <a:srgbClr val="464646"/>
                </a:solidFill>
              </a:rPr>
              <a:t>: name · tag · semantic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87017" y="3365545"/>
            <a:ext cx="1169367" cy="0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04128" y="2819834"/>
            <a:ext cx="292608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464646"/>
                </a:solidFill>
              </a:rPr>
              <a:t>mirror:</a:t>
            </a:r>
          </a:p>
          <a:p>
            <a:pPr algn="ctr"/>
            <a:r>
              <a:rPr sz="950" i="1">
                <a:solidFill>
                  <a:srgbClr val="464646"/>
                </a:solidFill>
              </a:rPr>
              <a:t>skill envelope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0238489" y="2114594"/>
            <a:ext cx="0" cy="870227"/>
          </a:xfrm>
          <a:prstGeom prst="line">
            <a:avLst/>
          </a:prstGeom>
          <a:ln w="19050">
            <a:solidFill>
              <a:srgbClr val="0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426715" y="2114594"/>
            <a:ext cx="3811774" cy="0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284279" y="1778166"/>
            <a:ext cx="292608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464646"/>
                </a:solidFill>
              </a:rPr>
              <a:t>discovered natively by the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